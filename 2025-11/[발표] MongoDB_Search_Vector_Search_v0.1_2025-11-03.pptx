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  <p:sldMasterId id="2147483680" r:id="rId5"/>
    <p:sldMasterId id="2147483694" r:id="rId6"/>
  </p:sldMasterIdLst>
  <p:notesMasterIdLst>
    <p:notesMasterId r:id="rId33"/>
  </p:notesMasterIdLst>
  <p:handoutMasterIdLst>
    <p:handoutMasterId r:id="rId34"/>
  </p:handoutMasterIdLst>
  <p:sldIdLst>
    <p:sldId id="273" r:id="rId7"/>
    <p:sldId id="652" r:id="rId8"/>
    <p:sldId id="5938" r:id="rId9"/>
    <p:sldId id="5983" r:id="rId10"/>
    <p:sldId id="6058" r:id="rId11"/>
    <p:sldId id="6001" r:id="rId12"/>
    <p:sldId id="6059" r:id="rId13"/>
    <p:sldId id="6060" r:id="rId14"/>
    <p:sldId id="6061" r:id="rId15"/>
    <p:sldId id="6062" r:id="rId16"/>
    <p:sldId id="6063" r:id="rId17"/>
    <p:sldId id="6064" r:id="rId18"/>
    <p:sldId id="6065" r:id="rId19"/>
    <p:sldId id="6066" r:id="rId20"/>
    <p:sldId id="6068" r:id="rId21"/>
    <p:sldId id="6053" r:id="rId22"/>
    <p:sldId id="6070" r:id="rId23"/>
    <p:sldId id="6071" r:id="rId24"/>
    <p:sldId id="6067" r:id="rId25"/>
    <p:sldId id="6072" r:id="rId26"/>
    <p:sldId id="6069" r:id="rId27"/>
    <p:sldId id="6076" r:id="rId28"/>
    <p:sldId id="6073" r:id="rId29"/>
    <p:sldId id="6074" r:id="rId30"/>
    <p:sldId id="6075" r:id="rId31"/>
    <p:sldId id="5971" r:id="rId32"/>
  </p:sldIdLst>
  <p:sldSz cx="10907713" cy="7775575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. 표지 및 목차" id="{4992ED6F-8FB5-403F-ABEA-CC9A3F2FFC66}">
          <p14:sldIdLst>
            <p14:sldId id="273"/>
            <p14:sldId id="652"/>
            <p14:sldId id="5938"/>
            <p14:sldId id="5983"/>
            <p14:sldId id="6058"/>
            <p14:sldId id="6001"/>
            <p14:sldId id="6059"/>
            <p14:sldId id="6060"/>
            <p14:sldId id="6061"/>
            <p14:sldId id="6062"/>
            <p14:sldId id="6063"/>
            <p14:sldId id="6064"/>
            <p14:sldId id="6065"/>
            <p14:sldId id="6066"/>
            <p14:sldId id="6068"/>
            <p14:sldId id="6053"/>
            <p14:sldId id="6070"/>
            <p14:sldId id="6071"/>
            <p14:sldId id="6067"/>
            <p14:sldId id="6072"/>
            <p14:sldId id="6069"/>
            <p14:sldId id="6076"/>
            <p14:sldId id="6073"/>
            <p14:sldId id="6074"/>
            <p14:sldId id="6075"/>
            <p14:sldId id="59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66EC"/>
    <a:srgbClr val="411FBF"/>
    <a:srgbClr val="0F058D"/>
    <a:srgbClr val="4335F7"/>
    <a:srgbClr val="2408CE"/>
    <a:srgbClr val="664EF8"/>
    <a:srgbClr val="3D5EEB"/>
    <a:srgbClr val="0E05BF"/>
    <a:srgbClr val="01014C"/>
    <a:srgbClr val="1402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3" autoAdjust="0"/>
    <p:restoredTop sz="96349" autoAdjust="0"/>
  </p:normalViewPr>
  <p:slideViewPr>
    <p:cSldViewPr>
      <p:cViewPr varScale="1">
        <p:scale>
          <a:sx n="98" d="100"/>
          <a:sy n="98" d="100"/>
        </p:scale>
        <p:origin x="14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388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AE66F10-31EA-41F5-9D0C-1C4781D87A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AA709E-AA7F-4159-A9D5-3E2322E7CC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8" y="1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C4A097D-5731-41AE-B96A-FD2FB685A24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87C384-CDCF-4334-8D2F-5F8C00DBDA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7305F3-4B3D-44AF-95AD-05DA832D50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8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DCA07D9-EDD2-4006-850F-84B229E2E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00197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143588" y="1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7501ED0-EC05-4701-A698-F92759CB893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200150"/>
            <a:ext cx="454660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BCBA94A-216F-41A2-BA22-18DF297BE8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273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28988" y="850900"/>
            <a:ext cx="3214687" cy="22923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519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655BA-9222-49D6-A3D4-4B6B29B4721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5195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0844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BA94A-216F-41A2-BA22-18DF297BE8F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330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28988" y="850900"/>
            <a:ext cx="3214687" cy="22923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519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655BA-9222-49D6-A3D4-4B6B29B4721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5195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003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Ⅰ. 사업추진전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892C9AFD-5256-CD17-D45A-50D951EA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768485"/>
            <a:ext cx="7710053" cy="2488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36">
            <a:extLst>
              <a:ext uri="{FF2B5EF4-FFF2-40B4-BE49-F238E27FC236}">
                <a16:creationId xmlns:a16="http://schemas.microsoft.com/office/drawing/2014/main" id="{45A56270-DEA6-6376-CC2D-A16F83AD76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12746" y="7387630"/>
            <a:ext cx="4953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spcBef>
                <a:spcPct val="0"/>
              </a:spcBef>
              <a:buSzTx/>
              <a:buFontTx/>
              <a:buNone/>
            </a:pPr>
            <a:fld id="{BA6106E6-BC1C-4DC2-AAF9-7FD0A13C7134}" type="slidenum">
              <a:rPr lang="en-US" sz="100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>
                <a:spcBef>
                  <a:spcPct val="0"/>
                </a:spcBef>
                <a:buSzTx/>
                <a:buFontTx/>
                <a:buNone/>
              </a:pPr>
              <a:t>‹#›</a:t>
            </a:fld>
            <a:endParaRPr 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Rn2">
            <a:extLst>
              <a:ext uri="{FF2B5EF4-FFF2-40B4-BE49-F238E27FC236}">
                <a16:creationId xmlns:a16="http://schemas.microsoft.com/office/drawing/2014/main" id="{57A4B0E2-345A-82EC-E977-9195951B012E}"/>
              </a:ext>
            </a:extLst>
          </p:cNvPr>
          <p:cNvSpPr txBox="1"/>
          <p:nvPr userDrawn="1"/>
        </p:nvSpPr>
        <p:spPr>
          <a:xfrm>
            <a:off x="8514958" y="699690"/>
            <a:ext cx="36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40" normalizeH="0" baseline="0" noProof="0" dirty="0">
                <a:ln w="1270"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공체 Medium" panose="00000600000000000000" pitchFamily="2" charset="-127"/>
                <a:ea typeface="공체 Medium" panose="00000600000000000000" pitchFamily="2" charset="-127"/>
                <a:cs typeface="+mn-cs"/>
              </a:rPr>
              <a:t>Ⅰ</a:t>
            </a:r>
          </a:p>
        </p:txBody>
      </p:sp>
      <p:sp>
        <p:nvSpPr>
          <p:cNvPr id="4" name="Rn3">
            <a:extLst>
              <a:ext uri="{FF2B5EF4-FFF2-40B4-BE49-F238E27FC236}">
                <a16:creationId xmlns:a16="http://schemas.microsoft.com/office/drawing/2014/main" id="{91620429-79AA-C617-4785-A75215336F5B}"/>
              </a:ext>
            </a:extLst>
          </p:cNvPr>
          <p:cNvSpPr txBox="1"/>
          <p:nvPr userDrawn="1"/>
        </p:nvSpPr>
        <p:spPr>
          <a:xfrm>
            <a:off x="8802990" y="719414"/>
            <a:ext cx="14241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40" normalizeH="0" baseline="0" noProof="0" dirty="0">
                <a:ln w="1270"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공체 Medium" panose="00000600000000000000" pitchFamily="2" charset="-127"/>
                <a:ea typeface="공체 Medium" panose="00000600000000000000" pitchFamily="2" charset="-127"/>
                <a:cs typeface="+mn-cs"/>
              </a:rPr>
              <a:t>인수인계 사전준비</a:t>
            </a:r>
            <a:endParaRPr kumimoji="0" lang="en-US" altLang="ko-KR" sz="1200" b="0" i="0" u="none" strike="noStrike" kern="1200" cap="none" spc="-40" normalizeH="0" baseline="0" noProof="0" dirty="0">
              <a:ln w="1270">
                <a:solidFill>
                  <a:srgbClr val="4472C4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공체 Medium" panose="00000600000000000000" pitchFamily="2" charset="-127"/>
              <a:ea typeface="공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675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2">
          <p15:clr>
            <a:srgbClr val="FBAE40"/>
          </p15:clr>
        </p15:guide>
        <p15:guide id="2" pos="6588">
          <p15:clr>
            <a:srgbClr val="FBAE40"/>
          </p15:clr>
        </p15:guide>
        <p15:guide id="3" pos="283">
          <p15:clr>
            <a:srgbClr val="FBAE40"/>
          </p15:clr>
        </p15:guide>
        <p15:guide id="4" orient="horz" pos="4354">
          <p15:clr>
            <a:srgbClr val="FBAE40"/>
          </p15:clr>
        </p15:guide>
        <p15:guide id="5" orient="horz" pos="907">
          <p15:clr>
            <a:srgbClr val="FBAE40"/>
          </p15:clr>
        </p15:guide>
        <p15:guide id="6" orient="horz" pos="1360">
          <p15:clr>
            <a:srgbClr val="FBAE40"/>
          </p15:clr>
        </p15:guide>
        <p15:guide id="7" orient="horz" pos="455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Ⅱ. 제안사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892C9AFD-5256-CD17-D45A-50D951EA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768485"/>
            <a:ext cx="6464913" cy="2488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36">
            <a:extLst>
              <a:ext uri="{FF2B5EF4-FFF2-40B4-BE49-F238E27FC236}">
                <a16:creationId xmlns:a16="http://schemas.microsoft.com/office/drawing/2014/main" id="{45A56270-DEA6-6376-CC2D-A16F83AD76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12746" y="7387630"/>
            <a:ext cx="4953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spcBef>
                <a:spcPct val="0"/>
              </a:spcBef>
              <a:buSzTx/>
              <a:buFontTx/>
              <a:buNone/>
            </a:pPr>
            <a:fld id="{BA6106E6-BC1C-4DC2-AAF9-7FD0A13C7134}" type="slidenum">
              <a:rPr lang="en-US" sz="100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>
                <a:spcBef>
                  <a:spcPct val="0"/>
                </a:spcBef>
                <a:buSzTx/>
                <a:buFontTx/>
                <a:buNone/>
              </a:pPr>
              <a:t>‹#›</a:t>
            </a:fld>
            <a:endParaRPr 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Rn2">
            <a:extLst>
              <a:ext uri="{FF2B5EF4-FFF2-40B4-BE49-F238E27FC236}">
                <a16:creationId xmlns:a16="http://schemas.microsoft.com/office/drawing/2014/main" id="{57A4B0E2-345A-82EC-E977-9195951B012E}"/>
              </a:ext>
            </a:extLst>
          </p:cNvPr>
          <p:cNvSpPr txBox="1"/>
          <p:nvPr userDrawn="1"/>
        </p:nvSpPr>
        <p:spPr>
          <a:xfrm>
            <a:off x="8514958" y="699690"/>
            <a:ext cx="36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40" normalizeH="0" baseline="0" noProof="0">
                <a:ln w="1270"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공체 Medium" panose="00000600000000000000" pitchFamily="2" charset="-127"/>
                <a:ea typeface="공체 Medium" panose="00000600000000000000" pitchFamily="2" charset="-127"/>
                <a:cs typeface="+mn-cs"/>
              </a:rPr>
              <a:t>Ⅱ</a:t>
            </a:r>
          </a:p>
        </p:txBody>
      </p:sp>
      <p:sp>
        <p:nvSpPr>
          <p:cNvPr id="4" name="Rn3">
            <a:extLst>
              <a:ext uri="{FF2B5EF4-FFF2-40B4-BE49-F238E27FC236}">
                <a16:creationId xmlns:a16="http://schemas.microsoft.com/office/drawing/2014/main" id="{91620429-79AA-C617-4785-A75215336F5B}"/>
              </a:ext>
            </a:extLst>
          </p:cNvPr>
          <p:cNvSpPr txBox="1"/>
          <p:nvPr userDrawn="1"/>
        </p:nvSpPr>
        <p:spPr>
          <a:xfrm>
            <a:off x="8802990" y="719414"/>
            <a:ext cx="1275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40" normalizeH="0" baseline="0" noProof="0" dirty="0">
                <a:ln w="1270"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공체 Medium" panose="00000600000000000000" pitchFamily="2" charset="-127"/>
                <a:ea typeface="공체 Medium" panose="00000600000000000000" pitchFamily="2" charset="-127"/>
                <a:cs typeface="+mn-cs"/>
              </a:rPr>
              <a:t>시스템 인수인계</a:t>
            </a:r>
            <a:endParaRPr kumimoji="0" lang="en-US" altLang="ko-KR" sz="1200" b="0" i="0" u="none" strike="noStrike" kern="1200" cap="none" spc="-40" normalizeH="0" baseline="0" noProof="0" dirty="0">
              <a:ln w="1270">
                <a:solidFill>
                  <a:srgbClr val="4472C4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공체 Medium" panose="00000600000000000000" pitchFamily="2" charset="-127"/>
              <a:ea typeface="공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3679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2">
          <p15:clr>
            <a:srgbClr val="FBAE40"/>
          </p15:clr>
        </p15:guide>
        <p15:guide id="2" pos="6588">
          <p15:clr>
            <a:srgbClr val="FBAE40"/>
          </p15:clr>
        </p15:guide>
        <p15:guide id="3" pos="283">
          <p15:clr>
            <a:srgbClr val="FBAE40"/>
          </p15:clr>
        </p15:guide>
        <p15:guide id="4" orient="horz" pos="4354">
          <p15:clr>
            <a:srgbClr val="FBAE40"/>
          </p15:clr>
        </p15:guide>
        <p15:guide id="5" orient="horz" pos="907">
          <p15:clr>
            <a:srgbClr val="FBAE40"/>
          </p15:clr>
        </p15:guide>
        <p15:guide id="6" orient="horz" pos="1360">
          <p15:clr>
            <a:srgbClr val="FBAE40"/>
          </p15:clr>
        </p15:guide>
        <p15:guide id="7" orient="horz" pos="455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Ⅲ. 기술장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892C9AFD-5256-CD17-D45A-50D951EA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768485"/>
            <a:ext cx="6464913" cy="2488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36">
            <a:extLst>
              <a:ext uri="{FF2B5EF4-FFF2-40B4-BE49-F238E27FC236}">
                <a16:creationId xmlns:a16="http://schemas.microsoft.com/office/drawing/2014/main" id="{45A56270-DEA6-6376-CC2D-A16F83AD76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12746" y="7387630"/>
            <a:ext cx="4953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spcBef>
                <a:spcPct val="0"/>
              </a:spcBef>
              <a:buSzTx/>
              <a:buFontTx/>
              <a:buNone/>
            </a:pPr>
            <a:fld id="{BA6106E6-BC1C-4DC2-AAF9-7FD0A13C7134}" type="slidenum">
              <a:rPr lang="en-US" sz="100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>
                <a:spcBef>
                  <a:spcPct val="0"/>
                </a:spcBef>
                <a:buSzTx/>
                <a:buFontTx/>
                <a:buNone/>
              </a:pPr>
              <a:t>‹#›</a:t>
            </a:fld>
            <a:endParaRPr 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Rn2">
            <a:extLst>
              <a:ext uri="{FF2B5EF4-FFF2-40B4-BE49-F238E27FC236}">
                <a16:creationId xmlns:a16="http://schemas.microsoft.com/office/drawing/2014/main" id="{57A4B0E2-345A-82EC-E977-9195951B012E}"/>
              </a:ext>
            </a:extLst>
          </p:cNvPr>
          <p:cNvSpPr txBox="1"/>
          <p:nvPr userDrawn="1"/>
        </p:nvSpPr>
        <p:spPr>
          <a:xfrm>
            <a:off x="8514958" y="699690"/>
            <a:ext cx="36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40" normalizeH="0" baseline="0" noProof="0">
                <a:ln w="1270"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공체 Medium" panose="00000600000000000000" pitchFamily="2" charset="-127"/>
                <a:ea typeface="공체 Medium" panose="00000600000000000000" pitchFamily="2" charset="-127"/>
                <a:cs typeface="+mn-cs"/>
              </a:rPr>
              <a:t>Ⅲ</a:t>
            </a:r>
          </a:p>
        </p:txBody>
      </p:sp>
      <p:sp>
        <p:nvSpPr>
          <p:cNvPr id="4" name="Rn3">
            <a:extLst>
              <a:ext uri="{FF2B5EF4-FFF2-40B4-BE49-F238E27FC236}">
                <a16:creationId xmlns:a16="http://schemas.microsoft.com/office/drawing/2014/main" id="{91620429-79AA-C617-4785-A75215336F5B}"/>
              </a:ext>
            </a:extLst>
          </p:cNvPr>
          <p:cNvSpPr txBox="1"/>
          <p:nvPr userDrawn="1"/>
        </p:nvSpPr>
        <p:spPr>
          <a:xfrm>
            <a:off x="8802990" y="719414"/>
            <a:ext cx="1622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40" normalizeH="0" baseline="0" noProof="0" dirty="0">
                <a:ln w="1270"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공체 Medium" panose="00000600000000000000" pitchFamily="2" charset="-127"/>
                <a:ea typeface="공체 Medium" panose="00000600000000000000" pitchFamily="2" charset="-127"/>
                <a:cs typeface="+mn-cs"/>
              </a:rPr>
              <a:t>운영방안 및 개선활동</a:t>
            </a:r>
          </a:p>
        </p:txBody>
      </p:sp>
    </p:spTree>
    <p:extLst>
      <p:ext uri="{BB962C8B-B14F-4D97-AF65-F5344CB8AC3E}">
        <p14:creationId xmlns:p14="http://schemas.microsoft.com/office/powerpoint/2010/main" val="210799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2">
          <p15:clr>
            <a:srgbClr val="FBAE40"/>
          </p15:clr>
        </p15:guide>
        <p15:guide id="2" pos="6588">
          <p15:clr>
            <a:srgbClr val="FBAE40"/>
          </p15:clr>
        </p15:guide>
        <p15:guide id="3" pos="283">
          <p15:clr>
            <a:srgbClr val="FBAE40"/>
          </p15:clr>
        </p15:guide>
        <p15:guide id="4" orient="horz" pos="4354">
          <p15:clr>
            <a:srgbClr val="FBAE40"/>
          </p15:clr>
        </p15:guide>
        <p15:guide id="5" orient="horz" pos="907">
          <p15:clr>
            <a:srgbClr val="FBAE40"/>
          </p15:clr>
        </p15:guide>
        <p15:guide id="6" orient="horz" pos="1360">
          <p15:clr>
            <a:srgbClr val="FBAE40"/>
          </p15:clr>
        </p15:guide>
        <p15:guide id="7" orient="horz" pos="455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Ⅳ. 사업지원 및 관리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892C9AFD-5256-CD17-D45A-50D951EA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768485"/>
            <a:ext cx="6464913" cy="2488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36">
            <a:extLst>
              <a:ext uri="{FF2B5EF4-FFF2-40B4-BE49-F238E27FC236}">
                <a16:creationId xmlns:a16="http://schemas.microsoft.com/office/drawing/2014/main" id="{45A56270-DEA6-6376-CC2D-A16F83AD76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12746" y="7387630"/>
            <a:ext cx="4953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spcBef>
                <a:spcPct val="0"/>
              </a:spcBef>
              <a:buSzTx/>
              <a:buFontTx/>
              <a:buNone/>
            </a:pPr>
            <a:fld id="{BA6106E6-BC1C-4DC2-AAF9-7FD0A13C7134}" type="slidenum">
              <a:rPr lang="en-US" sz="100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>
                <a:spcBef>
                  <a:spcPct val="0"/>
                </a:spcBef>
                <a:buSzTx/>
                <a:buFontTx/>
                <a:buNone/>
              </a:pPr>
              <a:t>‹#›</a:t>
            </a:fld>
            <a:endParaRPr 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Rn2">
            <a:extLst>
              <a:ext uri="{FF2B5EF4-FFF2-40B4-BE49-F238E27FC236}">
                <a16:creationId xmlns:a16="http://schemas.microsoft.com/office/drawing/2014/main" id="{57A4B0E2-345A-82EC-E977-9195951B012E}"/>
              </a:ext>
            </a:extLst>
          </p:cNvPr>
          <p:cNvSpPr txBox="1"/>
          <p:nvPr userDrawn="1"/>
        </p:nvSpPr>
        <p:spPr>
          <a:xfrm>
            <a:off x="8514958" y="699690"/>
            <a:ext cx="36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40" normalizeH="0" baseline="0" noProof="0">
                <a:ln w="1270"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공체 Medium" panose="00000600000000000000" pitchFamily="2" charset="-127"/>
                <a:ea typeface="공체 Medium" panose="00000600000000000000" pitchFamily="2" charset="-127"/>
                <a:cs typeface="+mn-cs"/>
              </a:rPr>
              <a:t>Ⅳ</a:t>
            </a:r>
          </a:p>
        </p:txBody>
      </p:sp>
      <p:sp>
        <p:nvSpPr>
          <p:cNvPr id="4" name="Rn3">
            <a:extLst>
              <a:ext uri="{FF2B5EF4-FFF2-40B4-BE49-F238E27FC236}">
                <a16:creationId xmlns:a16="http://schemas.microsoft.com/office/drawing/2014/main" id="{91620429-79AA-C617-4785-A75215336F5B}"/>
              </a:ext>
            </a:extLst>
          </p:cNvPr>
          <p:cNvSpPr txBox="1"/>
          <p:nvPr userDrawn="1"/>
        </p:nvSpPr>
        <p:spPr>
          <a:xfrm>
            <a:off x="8802990" y="719414"/>
            <a:ext cx="1474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40" normalizeH="0" baseline="0" noProof="0">
                <a:ln w="1270"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공체 Medium" panose="00000600000000000000" pitchFamily="2" charset="-127"/>
                <a:ea typeface="공체 Medium" panose="00000600000000000000" pitchFamily="2" charset="-127"/>
                <a:cs typeface="+mn-cs"/>
              </a:rPr>
              <a:t>사업지원 및 관리방안</a:t>
            </a:r>
            <a:endParaRPr kumimoji="0" lang="en-US" altLang="ko-KR" sz="1200" b="0" i="0" u="none" strike="noStrike" kern="1200" cap="none" spc="-40" normalizeH="0" baseline="0" noProof="0">
              <a:ln w="1270">
                <a:solidFill>
                  <a:srgbClr val="4472C4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공체 Medium" panose="00000600000000000000" pitchFamily="2" charset="-127"/>
              <a:ea typeface="공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838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2">
          <p15:clr>
            <a:srgbClr val="FBAE40"/>
          </p15:clr>
        </p15:guide>
        <p15:guide id="2" pos="6588">
          <p15:clr>
            <a:srgbClr val="FBAE40"/>
          </p15:clr>
        </p15:guide>
        <p15:guide id="3" pos="283">
          <p15:clr>
            <a:srgbClr val="FBAE40"/>
          </p15:clr>
        </p15:guide>
        <p15:guide id="4" orient="horz" pos="4354">
          <p15:clr>
            <a:srgbClr val="FBAE40"/>
          </p15:clr>
        </p15:guide>
        <p15:guide id="5" orient="horz" pos="907">
          <p15:clr>
            <a:srgbClr val="FBAE40"/>
          </p15:clr>
        </p15:guide>
        <p15:guide id="6" orient="horz" pos="1360">
          <p15:clr>
            <a:srgbClr val="FBAE40"/>
          </p15:clr>
        </p15:guide>
        <p15:guide id="7" orient="horz" pos="455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Ⅴ 투입인력 프로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892C9AFD-5256-CD17-D45A-50D951EA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768485"/>
            <a:ext cx="6464913" cy="2488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36">
            <a:extLst>
              <a:ext uri="{FF2B5EF4-FFF2-40B4-BE49-F238E27FC236}">
                <a16:creationId xmlns:a16="http://schemas.microsoft.com/office/drawing/2014/main" id="{45A56270-DEA6-6376-CC2D-A16F83AD76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12746" y="7387630"/>
            <a:ext cx="4953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spcBef>
                <a:spcPct val="0"/>
              </a:spcBef>
              <a:buSzTx/>
              <a:buFontTx/>
              <a:buNone/>
            </a:pPr>
            <a:fld id="{BA6106E6-BC1C-4DC2-AAF9-7FD0A13C7134}" type="slidenum">
              <a:rPr lang="en-US" sz="100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>
                <a:spcBef>
                  <a:spcPct val="0"/>
                </a:spcBef>
                <a:buSzTx/>
                <a:buFontTx/>
                <a:buNone/>
              </a:pPr>
              <a:t>‹#›</a:t>
            </a:fld>
            <a:endParaRPr 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Rn2">
            <a:extLst>
              <a:ext uri="{FF2B5EF4-FFF2-40B4-BE49-F238E27FC236}">
                <a16:creationId xmlns:a16="http://schemas.microsoft.com/office/drawing/2014/main" id="{57A4B0E2-345A-82EC-E977-9195951B012E}"/>
              </a:ext>
            </a:extLst>
          </p:cNvPr>
          <p:cNvSpPr txBox="1"/>
          <p:nvPr userDrawn="1"/>
        </p:nvSpPr>
        <p:spPr>
          <a:xfrm>
            <a:off x="8514958" y="699690"/>
            <a:ext cx="36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40" normalizeH="0" baseline="0" noProof="0">
                <a:ln w="1270"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공체 Medium" panose="00000600000000000000" pitchFamily="2" charset="-127"/>
                <a:ea typeface="공체 Medium" panose="00000600000000000000" pitchFamily="2" charset="-127"/>
                <a:cs typeface="+mn-cs"/>
              </a:rPr>
              <a:t>Ⅴ</a:t>
            </a:r>
          </a:p>
        </p:txBody>
      </p:sp>
      <p:sp>
        <p:nvSpPr>
          <p:cNvPr id="4" name="Rn3">
            <a:extLst>
              <a:ext uri="{FF2B5EF4-FFF2-40B4-BE49-F238E27FC236}">
                <a16:creationId xmlns:a16="http://schemas.microsoft.com/office/drawing/2014/main" id="{91620429-79AA-C617-4785-A75215336F5B}"/>
              </a:ext>
            </a:extLst>
          </p:cNvPr>
          <p:cNvSpPr txBox="1"/>
          <p:nvPr userDrawn="1"/>
        </p:nvSpPr>
        <p:spPr>
          <a:xfrm>
            <a:off x="8802990" y="719414"/>
            <a:ext cx="11695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40" normalizeH="0" baseline="0" noProof="0">
                <a:ln w="1270"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공체 Medium" panose="00000600000000000000" pitchFamily="2" charset="-127"/>
                <a:ea typeface="공체 Medium" panose="00000600000000000000" pitchFamily="2" charset="-127"/>
                <a:cs typeface="+mn-cs"/>
              </a:rPr>
              <a:t>투입인력 프로필</a:t>
            </a:r>
            <a:endParaRPr kumimoji="0" lang="en-US" altLang="ko-KR" sz="1200" b="0" i="0" u="none" strike="noStrike" kern="1200" cap="none" spc="-40" normalizeH="0" baseline="0" noProof="0">
              <a:ln w="1270">
                <a:solidFill>
                  <a:srgbClr val="4472C4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공체 Medium" panose="00000600000000000000" pitchFamily="2" charset="-127"/>
              <a:ea typeface="공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166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2">
          <p15:clr>
            <a:srgbClr val="FBAE40"/>
          </p15:clr>
        </p15:guide>
        <p15:guide id="2" pos="6588">
          <p15:clr>
            <a:srgbClr val="FBAE40"/>
          </p15:clr>
        </p15:guide>
        <p15:guide id="3" pos="283">
          <p15:clr>
            <a:srgbClr val="FBAE40"/>
          </p15:clr>
        </p15:guide>
        <p15:guide id="4" orient="horz" pos="4354">
          <p15:clr>
            <a:srgbClr val="FBAE40"/>
          </p15:clr>
        </p15:guide>
        <p15:guide id="5" orient="horz" pos="907">
          <p15:clr>
            <a:srgbClr val="FBAE40"/>
          </p15:clr>
        </p15:guide>
        <p15:guide id="6" orient="horz" pos="1360">
          <p15:clr>
            <a:srgbClr val="FBAE40"/>
          </p15:clr>
        </p15:guide>
        <p15:guide id="7" orient="horz" pos="455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566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9;p4">
            <a:extLst>
              <a:ext uri="{FF2B5EF4-FFF2-40B4-BE49-F238E27FC236}">
                <a16:creationId xmlns:a16="http://schemas.microsoft.com/office/drawing/2014/main" id="{C31B498C-F0AC-DD34-D2D0-D5A5C794504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790712"/>
            <a:ext cx="10907712" cy="60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ctr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 sz="4400" b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30;p4">
            <a:extLst>
              <a:ext uri="{FF2B5EF4-FFF2-40B4-BE49-F238E27FC236}">
                <a16:creationId xmlns:a16="http://schemas.microsoft.com/office/drawing/2014/main" id="{2C620AEA-7CEF-E1A9-FAB0-7CFCCFB855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" y="3613382"/>
            <a:ext cx="10907712" cy="49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5" name="Google Shape;31;p4">
            <a:extLst>
              <a:ext uri="{FF2B5EF4-FFF2-40B4-BE49-F238E27FC236}">
                <a16:creationId xmlns:a16="http://schemas.microsoft.com/office/drawing/2014/main" id="{F453BE3F-D9D2-2BED-B602-B3AE0E1116F6}"/>
              </a:ext>
            </a:extLst>
          </p:cNvPr>
          <p:cNvCxnSpPr>
            <a:cxnSpLocks/>
          </p:cNvCxnSpPr>
          <p:nvPr userDrawn="1"/>
        </p:nvCxnSpPr>
        <p:spPr>
          <a:xfrm>
            <a:off x="766763" y="3429000"/>
            <a:ext cx="9535726" cy="0"/>
          </a:xfrm>
          <a:prstGeom prst="straightConnector1">
            <a:avLst/>
          </a:prstGeom>
          <a:noFill/>
          <a:ln w="95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05173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218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892C9AFD-5256-CD17-D45A-50D951EA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Rectangle 136">
            <a:extLst>
              <a:ext uri="{FF2B5EF4-FFF2-40B4-BE49-F238E27FC236}">
                <a16:creationId xmlns:a16="http://schemas.microsoft.com/office/drawing/2014/main" id="{45A56270-DEA6-6376-CC2D-A16F83AD76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12746" y="7387630"/>
            <a:ext cx="49530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spcBef>
                <a:spcPct val="0"/>
              </a:spcBef>
              <a:buSzTx/>
              <a:buFontTx/>
              <a:buNone/>
            </a:pPr>
            <a:fld id="{BA6106E6-BC1C-4DC2-AAF9-7FD0A13C7134}" type="slidenum">
              <a:rPr lang="en-US" sz="90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>
                <a:spcBef>
                  <a:spcPct val="0"/>
                </a:spcBef>
                <a:buSzTx/>
                <a:buFontTx/>
                <a:buNone/>
              </a:pPr>
              <a:t>‹#›</a:t>
            </a:fld>
            <a:endParaRPr lang="en-US" sz="9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0954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2">
          <p15:clr>
            <a:srgbClr val="FBAE40"/>
          </p15:clr>
        </p15:guide>
        <p15:guide id="2" pos="6588">
          <p15:clr>
            <a:srgbClr val="FBAE40"/>
          </p15:clr>
        </p15:guide>
        <p15:guide id="3" pos="283">
          <p15:clr>
            <a:srgbClr val="FBAE40"/>
          </p15:clr>
        </p15:guide>
        <p15:guide id="4" orient="horz" pos="4354">
          <p15:clr>
            <a:srgbClr val="FBAE40"/>
          </p15:clr>
        </p15:guide>
        <p15:guide id="5" orient="horz" pos="907">
          <p15:clr>
            <a:srgbClr val="FBAE40"/>
          </p15:clr>
        </p15:guide>
        <p15:guide id="6" orient="horz" pos="1360">
          <p15:clr>
            <a:srgbClr val="FBAE40"/>
          </p15:clr>
        </p15:guide>
        <p15:guide id="7" orient="horz" pos="455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474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Ⅲ. 기술장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6">
            <a:extLst>
              <a:ext uri="{FF2B5EF4-FFF2-40B4-BE49-F238E27FC236}">
                <a16:creationId xmlns:a16="http://schemas.microsoft.com/office/drawing/2014/main" id="{45A56270-DEA6-6376-CC2D-A16F83AD76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12746" y="7387630"/>
            <a:ext cx="4953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spcBef>
                <a:spcPct val="0"/>
              </a:spcBef>
              <a:buSzTx/>
              <a:buFontTx/>
              <a:buNone/>
            </a:pPr>
            <a:fld id="{BA6106E6-BC1C-4DC2-AAF9-7FD0A13C7134}" type="slidenum">
              <a:rPr lang="en-US" sz="100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 algn="ctr">
                <a:spcBef>
                  <a:spcPct val="0"/>
                </a:spcBef>
                <a:buSzTx/>
                <a:buFontTx/>
                <a:buNone/>
              </a:pPr>
              <a:t>‹#›</a:t>
            </a:fld>
            <a:endParaRPr lang="en-US" sz="100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9430484-4ADC-4B1D-9283-D48F7F1F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1480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2">
          <p15:clr>
            <a:srgbClr val="FBAE40"/>
          </p15:clr>
        </p15:guide>
        <p15:guide id="2" pos="6588">
          <p15:clr>
            <a:srgbClr val="FBAE40"/>
          </p15:clr>
        </p15:guide>
        <p15:guide id="3" pos="283">
          <p15:clr>
            <a:srgbClr val="FBAE40"/>
          </p15:clr>
        </p15:guide>
        <p15:guide id="4" orient="horz" pos="4354">
          <p15:clr>
            <a:srgbClr val="FBAE40"/>
          </p15:clr>
        </p15:guide>
        <p15:guide id="5" orient="horz" pos="907">
          <p15:clr>
            <a:srgbClr val="FBAE40"/>
          </p15:clr>
        </p15:guide>
        <p15:guide id="6" orient="horz" pos="1360">
          <p15:clr>
            <a:srgbClr val="FBAE40"/>
          </p15:clr>
        </p15:guide>
        <p15:guide id="7" orient="horz" pos="455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892C9AFD-5256-CD17-D45A-50D951EA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36">
            <a:extLst>
              <a:ext uri="{FF2B5EF4-FFF2-40B4-BE49-F238E27FC236}">
                <a16:creationId xmlns:a16="http://schemas.microsoft.com/office/drawing/2014/main" id="{45A56270-DEA6-6376-CC2D-A16F83AD76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12746" y="7387630"/>
            <a:ext cx="49530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spcBef>
                <a:spcPct val="0"/>
              </a:spcBef>
              <a:buSzTx/>
              <a:buFontTx/>
              <a:buNone/>
            </a:pPr>
            <a:fld id="{BA6106E6-BC1C-4DC2-AAF9-7FD0A13C7134}" type="slidenum">
              <a:rPr lang="en-US" sz="90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>
                <a:spcBef>
                  <a:spcPct val="0"/>
                </a:spcBef>
                <a:buSzTx/>
                <a:buFontTx/>
                <a:buNone/>
              </a:pPr>
              <a:t>‹#›</a:t>
            </a:fld>
            <a:endParaRPr lang="en-US" sz="9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2113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2">
          <p15:clr>
            <a:srgbClr val="FBAE40"/>
          </p15:clr>
        </p15:guide>
        <p15:guide id="2" pos="6588">
          <p15:clr>
            <a:srgbClr val="FBAE40"/>
          </p15:clr>
        </p15:guide>
        <p15:guide id="3" pos="283">
          <p15:clr>
            <a:srgbClr val="FBAE40"/>
          </p15:clr>
        </p15:guide>
        <p15:guide id="4" orient="horz" pos="4354">
          <p15:clr>
            <a:srgbClr val="FBAE40"/>
          </p15:clr>
        </p15:guide>
        <p15:guide id="5" orient="horz" pos="907">
          <p15:clr>
            <a:srgbClr val="FBAE40"/>
          </p15:clr>
        </p15:guide>
        <p15:guide id="6" orient="horz" pos="1360">
          <p15:clr>
            <a:srgbClr val="FBAE40"/>
          </p15:clr>
        </p15:guide>
        <p15:guide id="7" orient="horz" pos="455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9;p4">
            <a:extLst>
              <a:ext uri="{FF2B5EF4-FFF2-40B4-BE49-F238E27FC236}">
                <a16:creationId xmlns:a16="http://schemas.microsoft.com/office/drawing/2014/main" id="{C31B498C-F0AC-DD34-D2D0-D5A5C794504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790712"/>
            <a:ext cx="10907712" cy="60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ctr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 sz="4400" b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30;p4">
            <a:extLst>
              <a:ext uri="{FF2B5EF4-FFF2-40B4-BE49-F238E27FC236}">
                <a16:creationId xmlns:a16="http://schemas.microsoft.com/office/drawing/2014/main" id="{2C620AEA-7CEF-E1A9-FAB0-7CFCCFB855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" y="3613382"/>
            <a:ext cx="10907712" cy="49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5" name="Google Shape;31;p4">
            <a:extLst>
              <a:ext uri="{FF2B5EF4-FFF2-40B4-BE49-F238E27FC236}">
                <a16:creationId xmlns:a16="http://schemas.microsoft.com/office/drawing/2014/main" id="{F453BE3F-D9D2-2BED-B602-B3AE0E1116F6}"/>
              </a:ext>
            </a:extLst>
          </p:cNvPr>
          <p:cNvCxnSpPr>
            <a:cxnSpLocks/>
          </p:cNvCxnSpPr>
          <p:nvPr userDrawn="1"/>
        </p:nvCxnSpPr>
        <p:spPr>
          <a:xfrm>
            <a:off x="766763" y="3429000"/>
            <a:ext cx="9535726" cy="0"/>
          </a:xfrm>
          <a:prstGeom prst="straightConnector1">
            <a:avLst/>
          </a:prstGeom>
          <a:noFill/>
          <a:ln w="95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02316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gradFill>
          <a:gsLst>
            <a:gs pos="100000">
              <a:srgbClr val="01014C"/>
            </a:gs>
            <a:gs pos="100000">
              <a:srgbClr val="039DC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-95322" y="7810508"/>
            <a:ext cx="442750" cy="185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85679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4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amsung Sharp Sans Regular" pitchFamily="2" charset="0"/>
                <a:ea typeface="SamsungOneKorean 300"/>
                <a:cs typeface="Samsung Sharp Sans Regular" pitchFamily="2" charset="0"/>
              </a:rPr>
              <a:t>1. Cover</a:t>
            </a:r>
            <a:endParaRPr kumimoji="0" lang="ko-KR" altLang="en-US" sz="604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amsung Sharp Sans Regular" pitchFamily="2" charset="0"/>
              <a:ea typeface="SamsungOneKorean 300"/>
              <a:cs typeface="Samsung Sharp Sans Regular" pitchFamily="2" charset="0"/>
            </a:endParaRPr>
          </a:p>
        </p:txBody>
      </p:sp>
      <p:sp>
        <p:nvSpPr>
          <p:cNvPr id="12" name="제목 1"/>
          <p:cNvSpPr>
            <a:spLocks noGrp="1"/>
          </p:cNvSpPr>
          <p:nvPr userDrawn="1"/>
        </p:nvSpPr>
        <p:spPr>
          <a:xfrm>
            <a:off x="1686166" y="4204331"/>
            <a:ext cx="7865484" cy="501246"/>
          </a:xfrm>
          <a:prstGeom prst="rect">
            <a:avLst/>
          </a:prstGeom>
        </p:spPr>
        <p:txBody>
          <a:bodyPr/>
          <a:lstStyle>
            <a:lvl1pPr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000" kern="1200">
                <a:solidFill>
                  <a:schemeClr val="tx1"/>
                </a:solidFill>
                <a:latin typeface="Montserrat Hairline" charset="0"/>
                <a:ea typeface="Montserrat Hairline" charset="0"/>
                <a:cs typeface="Montserrat Hairline" charset="0"/>
              </a:defRPr>
            </a:lvl1pPr>
          </a:lstStyle>
          <a:p>
            <a:pPr marL="0" marR="0" lvl="0" indent="0" algn="ctr" defTabSz="6132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62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msung Sharp Sans Bold"/>
              <a:ea typeface="Arial Unicode MS" panose="020B0604020202020204" pitchFamily="50" charset="-127"/>
              <a:cs typeface="Samsung Sharp Sans Bold" pitchFamily="2" charset="0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 hasCustomPrompt="1"/>
          </p:nvPr>
        </p:nvSpPr>
        <p:spPr>
          <a:xfrm>
            <a:off x="749906" y="2548394"/>
            <a:ext cx="9407902" cy="899252"/>
          </a:xfrm>
          <a:prstGeom prst="rect">
            <a:avLst/>
          </a:prstGeom>
        </p:spPr>
        <p:txBody>
          <a:bodyPr anchor="ctr"/>
          <a:lstStyle>
            <a:lvl1pPr>
              <a:defRPr kumimoji="0" lang="ko-KR" altLang="en-US" sz="5905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msungOneKorean 700" panose="020B0803030303020204" pitchFamily="50" charset="-127"/>
                <a:ea typeface="SamsungOneKorean 700" panose="020B0803030303020204" pitchFamily="50" charset="-127"/>
                <a:cs typeface="Samsung Sharp Sans Bold" pitchFamily="2" charset="0"/>
              </a:defRPr>
            </a:lvl1pPr>
          </a:lstStyle>
          <a:p>
            <a:r>
              <a:rPr lang="en-US" altLang="ko-KR" dirty="0"/>
              <a:t>Presentation Title</a:t>
            </a:r>
            <a:endParaRPr lang="ko-KR" altLang="en-US" dirty="0"/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2" hasCustomPrompt="1"/>
          </p:nvPr>
        </p:nvSpPr>
        <p:spPr>
          <a:xfrm>
            <a:off x="4123406" y="4705576"/>
            <a:ext cx="2347715" cy="539970"/>
          </a:xfrm>
          <a:prstGeom prst="rect">
            <a:avLst/>
          </a:prstGeom>
          <a:noFill/>
        </p:spPr>
        <p:txBody>
          <a:bodyPr anchor="ctr"/>
          <a:lstStyle>
            <a:lvl1pPr>
              <a:defRPr lang="ko-KR" altLang="en-US" sz="1610" b="1" kern="1200" spc="-4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amsungOne 800" panose="020B0903030303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 altLang="ko-KR" dirty="0"/>
              <a:t>Presentation Date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5078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298A5B-C6D8-4F32-A603-F53BDA445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863467"/>
            <a:ext cx="9726416" cy="144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defTabSz="457200">
              <a:spcBef>
                <a:spcPct val="50000"/>
              </a:spcBef>
            </a:pPr>
            <a:r>
              <a:rPr lang="ko-KR" altLang="en-US"/>
              <a:t>마스터 제목 스타일 편집</a:t>
            </a: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74C21736-AF92-43E9-B9E8-0D1ECE1E3A49}"/>
              </a:ext>
            </a:extLst>
          </p:cNvPr>
          <p:cNvCxnSpPr>
            <a:cxnSpLocks/>
          </p:cNvCxnSpPr>
          <p:nvPr userDrawn="1"/>
        </p:nvCxnSpPr>
        <p:spPr>
          <a:xfrm>
            <a:off x="0" y="1079475"/>
            <a:ext cx="10907713" cy="0"/>
          </a:xfrm>
          <a:prstGeom prst="line">
            <a:avLst/>
          </a:prstGeom>
          <a:noFill/>
          <a:ln w="19050" cap="rnd">
            <a:solidFill>
              <a:srgbClr val="B2BEC2"/>
            </a:solidFill>
            <a:prstDash val="solid"/>
            <a:round/>
          </a:ln>
        </p:spPr>
      </p:cxnSp>
      <p:grpSp>
        <p:nvGrpSpPr>
          <p:cNvPr id="21" name="PL Guide Group" hidden="1">
            <a:extLst>
              <a:ext uri="{FF2B5EF4-FFF2-40B4-BE49-F238E27FC236}">
                <a16:creationId xmlns:a16="http://schemas.microsoft.com/office/drawing/2014/main" id="{C82A102D-F5FA-41D0-8E56-3E59FC4B78E0}"/>
              </a:ext>
            </a:extLst>
          </p:cNvPr>
          <p:cNvGrpSpPr/>
          <p:nvPr userDrawn="1"/>
        </p:nvGrpSpPr>
        <p:grpSpPr>
          <a:xfrm>
            <a:off x="4" y="-2"/>
            <a:ext cx="10907717" cy="7775578"/>
            <a:chOff x="4" y="-2"/>
            <a:chExt cx="10907717" cy="7775578"/>
          </a:xfrm>
        </p:grpSpPr>
        <p:sp>
          <p:nvSpPr>
            <p:cNvPr id="8" name="PL Guide V 0" hidden="1">
              <a:extLst>
                <a:ext uri="{FF2B5EF4-FFF2-40B4-BE49-F238E27FC236}">
                  <a16:creationId xmlns:a16="http://schemas.microsoft.com/office/drawing/2014/main" id="{DDAECFCB-CB5C-4E34-8FEF-1B0C994EDFC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>
              <a:off x="5453861" y="-5346491"/>
              <a:ext cx="0" cy="10907713"/>
            </a:xfrm>
            <a:prstGeom prst="line">
              <a:avLst/>
            </a:prstGeom>
            <a:noFill/>
            <a:ln w="6350">
              <a:solidFill>
                <a:srgbClr val="FF66FF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vl="0" algn="ctr"/>
              <a:endParaRPr lang="ko-KR" altLang="en-US" sz="972" baseline="-25000">
                <a:latin typeface="KoPub돋움체 Light" panose="02020603020101020101" pitchFamily="18" charset="-127"/>
                <a:ea typeface="KoPub돋움체 Bold" pitchFamily="18" charset="-127"/>
              </a:endParaRPr>
            </a:p>
          </p:txBody>
        </p:sp>
        <p:sp>
          <p:nvSpPr>
            <p:cNvPr id="9" name="PL Guide V 1" hidden="1">
              <a:extLst>
                <a:ext uri="{FF2B5EF4-FFF2-40B4-BE49-F238E27FC236}">
                  <a16:creationId xmlns:a16="http://schemas.microsoft.com/office/drawing/2014/main" id="{1E50B42B-D268-4C26-B207-01788548FF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>
              <a:off x="5453862" y="2214348"/>
              <a:ext cx="0" cy="10907713"/>
            </a:xfrm>
            <a:prstGeom prst="line">
              <a:avLst/>
            </a:prstGeom>
            <a:noFill/>
            <a:ln w="6350">
              <a:solidFill>
                <a:srgbClr val="FF66FF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vl="0" algn="ctr"/>
              <a:endParaRPr lang="ko-KR" altLang="en-US" sz="972" baseline="-25000">
                <a:latin typeface="KoPub돋움체 Light" panose="02020603020101020101" pitchFamily="18" charset="-127"/>
                <a:ea typeface="KoPub돋움체 Bold" pitchFamily="18" charset="-127"/>
              </a:endParaRPr>
            </a:p>
          </p:txBody>
        </p:sp>
        <p:sp>
          <p:nvSpPr>
            <p:cNvPr id="11" name="PL Guide H 0" hidden="1">
              <a:extLst>
                <a:ext uri="{FF2B5EF4-FFF2-40B4-BE49-F238E27FC236}">
                  <a16:creationId xmlns:a16="http://schemas.microsoft.com/office/drawing/2014/main" id="{E64E99E7-72C3-4AD3-9559-BB639D8D179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>
              <a:off x="6930667" y="3887786"/>
              <a:ext cx="7775575" cy="0"/>
            </a:xfrm>
            <a:prstGeom prst="line">
              <a:avLst/>
            </a:prstGeom>
            <a:noFill/>
            <a:ln w="6350">
              <a:solidFill>
                <a:srgbClr val="FF66FF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vl="0" algn="ctr"/>
              <a:endParaRPr lang="ko-KR" altLang="en-US" sz="953">
                <a:latin typeface="KoPub돋움체 Light" panose="02020603020101020101" pitchFamily="18" charset="-127"/>
                <a:ea typeface="KoPub돋움체 Bold" pitchFamily="18" charset="-127"/>
              </a:endParaRPr>
            </a:p>
          </p:txBody>
        </p:sp>
        <p:sp>
          <p:nvSpPr>
            <p:cNvPr id="13" name="PL Guide V 2" hidden="1">
              <a:extLst>
                <a:ext uri="{FF2B5EF4-FFF2-40B4-BE49-F238E27FC236}">
                  <a16:creationId xmlns:a16="http://schemas.microsoft.com/office/drawing/2014/main" id="{5F2E13BA-D558-4010-9B84-F5F6EB8877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>
              <a:off x="5453865" y="1746299"/>
              <a:ext cx="0" cy="10907713"/>
            </a:xfrm>
            <a:prstGeom prst="line">
              <a:avLst/>
            </a:prstGeom>
            <a:noFill/>
            <a:ln w="6350">
              <a:solidFill>
                <a:srgbClr val="FF66FF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vl="0" algn="ctr"/>
              <a:endParaRPr lang="ko-KR" altLang="en-US" sz="972" baseline="-25000">
                <a:latin typeface="KoPub돋움체 Light" panose="02020603020101020101" pitchFamily="18" charset="-127"/>
                <a:ea typeface="KoPub돋움체 Bold" pitchFamily="18" charset="-127"/>
              </a:endParaRPr>
            </a:p>
          </p:txBody>
        </p:sp>
        <p:sp>
          <p:nvSpPr>
            <p:cNvPr id="14" name="PL Guide H 1" hidden="1">
              <a:extLst>
                <a:ext uri="{FF2B5EF4-FFF2-40B4-BE49-F238E27FC236}">
                  <a16:creationId xmlns:a16="http://schemas.microsoft.com/office/drawing/2014/main" id="{F4599A74-9423-4809-B882-192EE2E67EF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>
              <a:off x="-3455788" y="3887789"/>
              <a:ext cx="7775575" cy="0"/>
            </a:xfrm>
            <a:prstGeom prst="line">
              <a:avLst/>
            </a:prstGeom>
            <a:noFill/>
            <a:ln w="6350">
              <a:solidFill>
                <a:srgbClr val="FF66FF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vl="0" algn="ctr"/>
              <a:endParaRPr lang="ko-KR" altLang="en-US" sz="953">
                <a:latin typeface="KoPub돋움체 Light" panose="02020603020101020101" pitchFamily="18" charset="-127"/>
                <a:ea typeface="KoPub돋움체 Bold" pitchFamily="18" charset="-127"/>
              </a:endParaRPr>
            </a:p>
          </p:txBody>
        </p:sp>
        <p:sp>
          <p:nvSpPr>
            <p:cNvPr id="16" name="PL Guide H 2" hidden="1">
              <a:extLst>
                <a:ext uri="{FF2B5EF4-FFF2-40B4-BE49-F238E27FC236}">
                  <a16:creationId xmlns:a16="http://schemas.microsoft.com/office/drawing/2014/main" id="{F2EA0567-95D5-4754-8FB5-899BAD459D0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>
              <a:off x="6587926" y="3887788"/>
              <a:ext cx="7775575" cy="0"/>
            </a:xfrm>
            <a:prstGeom prst="line">
              <a:avLst/>
            </a:prstGeom>
            <a:noFill/>
            <a:ln w="6350">
              <a:solidFill>
                <a:srgbClr val="FF66FF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lvl="0" algn="ctr"/>
              <a:endParaRPr lang="ko-KR" altLang="en-US" sz="953">
                <a:latin typeface="KoPub돋움체 Light" panose="02020603020101020101" pitchFamily="18" charset="-127"/>
                <a:ea typeface="KoPub돋움체 Bold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070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3" r:id="rId6"/>
    <p:sldLayoutId id="2147483702" r:id="rId7"/>
  </p:sldLayoutIdLst>
  <p:hf hdr="0" ftr="0" dt="0"/>
  <p:txStyles>
    <p:titleStyle>
      <a:lvl1pPr algn="l" defTabSz="457200" rtl="0" eaLnBrk="1" latinLnBrk="0" hangingPunct="1">
        <a:lnSpc>
          <a:spcPct val="125000"/>
        </a:lnSpc>
        <a:spcBef>
          <a:spcPct val="50000"/>
        </a:spcBef>
        <a:buNone/>
        <a:defRPr kumimoji="1" lang="ko-KR" altLang="en-US" sz="1000" kern="1200" spc="-49" baseline="0" smtClean="0">
          <a:ln>
            <a:solidFill>
              <a:schemeClr val="accent1">
                <a:shade val="50000"/>
                <a:alpha val="0"/>
              </a:schemeClr>
            </a:solidFill>
          </a:ln>
          <a:solidFill>
            <a:schemeClr val="tx1">
              <a:lumMod val="75000"/>
              <a:lumOff val="25000"/>
            </a:schemeClr>
          </a:solidFill>
          <a:latin typeface="나눔스퀘어 ExtraBold" panose="020B0600000101010101" pitchFamily="50" charset="-127"/>
          <a:ea typeface="나눔스퀘어 ExtraBold" panose="020B0600000101010101" pitchFamily="50" charset="-127"/>
          <a:cs typeface="+mn-cs"/>
        </a:defRPr>
      </a:lvl1pPr>
    </p:titleStyle>
    <p:bodyStyle>
      <a:lvl1pPr marL="259187" indent="-259187" algn="l" defTabSz="1036747" rtl="0" eaLnBrk="1" latinLnBrk="1" hangingPunct="1">
        <a:lnSpc>
          <a:spcPct val="90000"/>
        </a:lnSpc>
        <a:spcBef>
          <a:spcPts val="1134"/>
        </a:spcBef>
        <a:buFont typeface="Arial" panose="020B0604020202020204" pitchFamily="34" charset="0"/>
        <a:buChar char="•"/>
        <a:defRPr sz="3175" kern="1200">
          <a:solidFill>
            <a:schemeClr val="tx1"/>
          </a:solidFill>
          <a:latin typeface="+mn-lt"/>
          <a:ea typeface="+mn-ea"/>
          <a:cs typeface="+mn-cs"/>
        </a:defRPr>
      </a:lvl1pPr>
      <a:lvl2pPr marL="777560" indent="-259187" algn="l" defTabSz="1036747" rtl="0" eaLnBrk="1" latinLnBrk="1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1" kern="1200">
          <a:solidFill>
            <a:schemeClr val="tx1"/>
          </a:solidFill>
          <a:latin typeface="+mn-lt"/>
          <a:ea typeface="+mn-ea"/>
          <a:cs typeface="+mn-cs"/>
        </a:defRPr>
      </a:lvl2pPr>
      <a:lvl3pPr marL="1295933" indent="-259187" algn="l" defTabSz="1036747" rtl="0" eaLnBrk="1" latinLnBrk="1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814307" indent="-259187" algn="l" defTabSz="1036747" rtl="0" eaLnBrk="1" latinLnBrk="1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4pPr>
      <a:lvl5pPr marL="2332680" indent="-259187" algn="l" defTabSz="1036747" rtl="0" eaLnBrk="1" latinLnBrk="1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5pPr>
      <a:lvl6pPr marL="2851053" indent="-259187" algn="l" defTabSz="1036747" rtl="0" eaLnBrk="1" latinLnBrk="1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6pPr>
      <a:lvl7pPr marL="3369427" indent="-259187" algn="l" defTabSz="1036747" rtl="0" eaLnBrk="1" latinLnBrk="1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7pPr>
      <a:lvl8pPr marL="3887800" indent="-259187" algn="l" defTabSz="1036747" rtl="0" eaLnBrk="1" latinLnBrk="1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8pPr>
      <a:lvl9pPr marL="4406174" indent="-259187" algn="l" defTabSz="1036747" rtl="0" eaLnBrk="1" latinLnBrk="1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747" rtl="0" eaLnBrk="1" latinLnBrk="1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1pPr>
      <a:lvl2pPr marL="518373" algn="l" defTabSz="1036747" rtl="0" eaLnBrk="1" latinLnBrk="1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2pPr>
      <a:lvl3pPr marL="1036747" algn="l" defTabSz="1036747" rtl="0" eaLnBrk="1" latinLnBrk="1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3pPr>
      <a:lvl4pPr marL="1555120" algn="l" defTabSz="1036747" rtl="0" eaLnBrk="1" latinLnBrk="1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4pPr>
      <a:lvl5pPr marL="2073493" algn="l" defTabSz="1036747" rtl="0" eaLnBrk="1" latinLnBrk="1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5pPr>
      <a:lvl6pPr marL="2591867" algn="l" defTabSz="1036747" rtl="0" eaLnBrk="1" latinLnBrk="1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6pPr>
      <a:lvl7pPr marL="3110240" algn="l" defTabSz="1036747" rtl="0" eaLnBrk="1" latinLnBrk="1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7pPr>
      <a:lvl8pPr marL="3628614" algn="l" defTabSz="1036747" rtl="0" eaLnBrk="1" latinLnBrk="1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8pPr>
      <a:lvl9pPr marL="4146987" algn="l" defTabSz="1036747" rtl="0" eaLnBrk="1" latinLnBrk="1" hangingPunct="1">
        <a:defRPr sz="20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49" userDrawn="1">
          <p15:clr>
            <a:srgbClr val="F26B43"/>
          </p15:clr>
        </p15:guide>
        <p15:guide id="2" pos="343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130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99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49" userDrawn="1">
          <p15:clr>
            <a:srgbClr val="F26B43"/>
          </p15:clr>
        </p15:guide>
        <p15:guide id="2" pos="3435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807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7" r:id="rId2"/>
    <p:sldLayoutId id="2147483698" r:id="rId3"/>
    <p:sldLayoutId id="2147483701" r:id="rId4"/>
    <p:sldLayoutId id="2147483700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49">
          <p15:clr>
            <a:srgbClr val="F26B43"/>
          </p15:clr>
        </p15:guide>
        <p15:guide id="2" pos="343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-1" y="1540522"/>
            <a:ext cx="10907713" cy="1195138"/>
          </a:xfrm>
        </p:spPr>
        <p:txBody>
          <a:bodyPr/>
          <a:lstStyle/>
          <a:p>
            <a:pPr indent="0" algn="ctr" defTabSz="457200" latinLnBrk="0">
              <a:lnSpc>
                <a:spcPct val="120000"/>
              </a:lnSpc>
              <a:spcAft>
                <a:spcPts val="0"/>
              </a:spcAft>
              <a:buSzTx/>
              <a:buFontTx/>
              <a:buNone/>
              <a:defRPr/>
            </a:pPr>
            <a:r>
              <a:rPr lang="en-US" altLang="ko-KR" sz="3600" dirty="0">
                <a:latin typeface="Samsung Sharp Sans Bold" pitchFamily="2" charset="0"/>
              </a:rPr>
              <a:t>MongoDB</a:t>
            </a:r>
            <a:br>
              <a:rPr lang="en-US" altLang="ko-KR" sz="3600" dirty="0">
                <a:latin typeface="Samsung Sharp Sans Bold" pitchFamily="2" charset="0"/>
              </a:rPr>
            </a:br>
            <a:r>
              <a:rPr lang="en-US" altLang="ko-KR" sz="3600" dirty="0">
                <a:latin typeface="Samsung Sharp Sans Bold" pitchFamily="2" charset="0"/>
              </a:rPr>
              <a:t>Atlas Search &amp; Vector Search</a:t>
            </a:r>
            <a:endParaRPr lang="ko-KR" altLang="en-US" sz="3600" dirty="0">
              <a:latin typeface="Samsung Sharp Sans Bold" pitchFamily="2" charset="0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9294291" y="6686806"/>
            <a:ext cx="1224135" cy="426083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/>
              <a:t>2025. 11. 03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156D8-FFAA-48F2-B81A-431596C97D32}"/>
              </a:ext>
            </a:extLst>
          </p:cNvPr>
          <p:cNvSpPr txBox="1"/>
          <p:nvPr/>
        </p:nvSpPr>
        <p:spPr>
          <a:xfrm>
            <a:off x="3588054" y="4084647"/>
            <a:ext cx="3731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마케팅</a:t>
            </a:r>
            <a:r>
              <a:rPr lang="en-US" altLang="ko-KR" sz="28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</a:t>
            </a:r>
            <a:r>
              <a:rPr lang="ko-KR" altLang="en-US" sz="28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통합그룹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A42F92-AC44-44FB-859B-510D1544F9CD}"/>
              </a:ext>
            </a:extLst>
          </p:cNvPr>
          <p:cNvSpPr txBox="1"/>
          <p:nvPr/>
        </p:nvSpPr>
        <p:spPr>
          <a:xfrm>
            <a:off x="3393235" y="2809988"/>
            <a:ext cx="4121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2000" b="0" i="0" u="none" strike="noStrike" kern="1200" cap="none" spc="0" normalizeH="0" baseline="0" noProof="0" dirty="0">
                <a:ln w="1270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Project : GMO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D52A0-47F1-4725-AD66-1A5CF2FC0B5E}"/>
              </a:ext>
            </a:extLst>
          </p:cNvPr>
          <p:cNvSpPr txBox="1"/>
          <p:nvPr/>
        </p:nvSpPr>
        <p:spPr>
          <a:xfrm>
            <a:off x="9906358" y="7104137"/>
            <a:ext cx="6895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6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amsungOne 800" panose="020B0903030303020204" pitchFamily="34" charset="0"/>
                <a:ea typeface="+mj-ea"/>
                <a:cs typeface="+mj-cs"/>
              </a:rPr>
              <a:t>v 1.0</a:t>
            </a:r>
            <a:endParaRPr lang="ko-KR" altLang="en-US" sz="1600" b="1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SamsungOne 800" panose="020B0903030303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84908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3B69B0-4B08-7DB1-DD38-15CF02A12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680463"/>
              </p:ext>
            </p:extLst>
          </p:nvPr>
        </p:nvGraphicFramePr>
        <p:xfrm>
          <a:off x="749300" y="1583532"/>
          <a:ext cx="9409112" cy="3972669"/>
        </p:xfrm>
        <a:graphic>
          <a:graphicData uri="http://schemas.openxmlformats.org/drawingml/2006/table">
            <a:tbl>
              <a:tblPr/>
              <a:tblGrid>
                <a:gridCol w="560170">
                  <a:extLst>
                    <a:ext uri="{9D8B030D-6E8A-4147-A177-3AD203B41FA5}">
                      <a16:colId xmlns:a16="http://schemas.microsoft.com/office/drawing/2014/main" val="1626106963"/>
                    </a:ext>
                  </a:extLst>
                </a:gridCol>
                <a:gridCol w="875266">
                  <a:extLst>
                    <a:ext uri="{9D8B030D-6E8A-4147-A177-3AD203B41FA5}">
                      <a16:colId xmlns:a16="http://schemas.microsoft.com/office/drawing/2014/main" val="1246838809"/>
                    </a:ext>
                  </a:extLst>
                </a:gridCol>
                <a:gridCol w="1468920">
                  <a:extLst>
                    <a:ext uri="{9D8B030D-6E8A-4147-A177-3AD203B41FA5}">
                      <a16:colId xmlns:a16="http://schemas.microsoft.com/office/drawing/2014/main" val="2640265526"/>
                    </a:ext>
                  </a:extLst>
                </a:gridCol>
                <a:gridCol w="5095577">
                  <a:extLst>
                    <a:ext uri="{9D8B030D-6E8A-4147-A177-3AD203B41FA5}">
                      <a16:colId xmlns:a16="http://schemas.microsoft.com/office/drawing/2014/main" val="1813144692"/>
                    </a:ext>
                  </a:extLst>
                </a:gridCol>
                <a:gridCol w="1409179">
                  <a:extLst>
                    <a:ext uri="{9D8B030D-6E8A-4147-A177-3AD203B41FA5}">
                      <a16:colId xmlns:a16="http://schemas.microsoft.com/office/drawing/2014/main" val="486143977"/>
                    </a:ext>
                  </a:extLst>
                </a:gridCol>
              </a:tblGrid>
              <a:tr h="342990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 서 개 정 이 </a:t>
                      </a:r>
                      <a:r>
                        <a:rPr lang="ko-KR" altLang="en-US" sz="13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력</a:t>
                      </a:r>
                      <a:endParaRPr lang="ko-KR" alt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14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540759"/>
                  </a:ext>
                </a:extLst>
              </a:tr>
              <a:tr h="3210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개정내용</a:t>
                      </a: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52118"/>
                  </a:ext>
                </a:extLst>
              </a:tr>
              <a:tr h="5514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2025.11.03</a:t>
                      </a: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 작성</a:t>
                      </a: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MongoDB Atlas Search &amp; Vector Search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사용방법 정리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강현욱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048249"/>
                  </a:ext>
                </a:extLst>
              </a:tr>
              <a:tr h="551432"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624503"/>
                  </a:ext>
                </a:extLst>
              </a:tr>
              <a:tr h="551432"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030191"/>
                  </a:ext>
                </a:extLst>
              </a:tr>
              <a:tr h="551432"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617704"/>
                  </a:ext>
                </a:extLst>
              </a:tr>
              <a:tr h="551432"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663456"/>
                  </a:ext>
                </a:extLst>
              </a:tr>
              <a:tr h="551432"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745" marR="8745" marT="8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905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991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6FF90E-F293-40AC-BB2C-17BCDD5D2744}"/>
              </a:ext>
            </a:extLst>
          </p:cNvPr>
          <p:cNvSpPr/>
          <p:nvPr/>
        </p:nvSpPr>
        <p:spPr>
          <a:xfrm>
            <a:off x="-1" y="0"/>
            <a:ext cx="8262169" cy="7775575"/>
          </a:xfrm>
          <a:prstGeom prst="rect">
            <a:avLst/>
          </a:prstGeom>
          <a:solidFill>
            <a:srgbClr val="0101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165A0C9E-0F77-4518-8C2C-F898BF520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904" y="179375"/>
            <a:ext cx="4892713" cy="246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 defTabSz="995507" fontAlgn="auto" latinLnBrk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None/>
              <a:tabLst/>
              <a:defRPr kumimoji="1" sz="3400" b="0" i="0" u="none" strike="noStrike" cap="none" spc="-50" normalizeH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</a:defRPr>
            </a:lvl1pPr>
            <a:lvl2pPr marL="742950" indent="-285750">
              <a:defRPr kumimoji="1" sz="2000">
                <a:latin typeface="산돌고딕B" pitchFamily="18" charset="-127"/>
                <a:ea typeface="산돌고딕B" pitchFamily="18" charset="-127"/>
              </a:defRPr>
            </a:lvl2pPr>
            <a:lvl3pPr marL="1143000" indent="-228600">
              <a:defRPr kumimoji="1" sz="2000">
                <a:latin typeface="산돌고딕B" pitchFamily="18" charset="-127"/>
                <a:ea typeface="산돌고딕B" pitchFamily="18" charset="-127"/>
              </a:defRPr>
            </a:lvl3pPr>
            <a:lvl4pPr marL="1600200" indent="-228600">
              <a:defRPr kumimoji="1" sz="2000">
                <a:latin typeface="산돌고딕B" pitchFamily="18" charset="-127"/>
                <a:ea typeface="산돌고딕B" pitchFamily="18" charset="-127"/>
              </a:defRPr>
            </a:lvl4pPr>
            <a:lvl5pPr marL="2057400" indent="-228600">
              <a:defRPr kumimoji="1" sz="2000">
                <a:latin typeface="산돌고딕B" pitchFamily="18" charset="-127"/>
                <a:ea typeface="산돌고딕B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latin typeface="산돌고딕B" pitchFamily="18" charset="-127"/>
                <a:ea typeface="산돌고딕B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latin typeface="산돌고딕B" pitchFamily="18" charset="-127"/>
                <a:ea typeface="산돌고딕B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latin typeface="산돌고딕B" pitchFamily="18" charset="-127"/>
                <a:ea typeface="산돌고딕B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latin typeface="산돌고딕B" pitchFamily="18" charset="-127"/>
                <a:ea typeface="산돌고딕B" pitchFamily="18" charset="-127"/>
              </a:defRPr>
            </a:lvl9pPr>
          </a:lstStyle>
          <a:p>
            <a:pPr lvl="0" algn="r" defTabSz="457200" latinLnBrk="0"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rgbClr val="4472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MongoDB</a:t>
            </a:r>
            <a:endParaRPr lang="ko-KR" altLang="en-US" sz="1600" b="1" dirty="0">
              <a:solidFill>
                <a:srgbClr val="4472C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Rn4">
            <a:extLst>
              <a:ext uri="{FF2B5EF4-FFF2-40B4-BE49-F238E27FC236}">
                <a16:creationId xmlns:a16="http://schemas.microsoft.com/office/drawing/2014/main" id="{514FFC50-E021-435C-B9EB-0D25B39865DB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360" y="713855"/>
            <a:ext cx="1620567" cy="532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651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3200" b="1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E47A46D-2805-4D07-9E33-CC849DD2626D}"/>
              </a:ext>
            </a:extLst>
          </p:cNvPr>
          <p:cNvCxnSpPr>
            <a:cxnSpLocks/>
          </p:cNvCxnSpPr>
          <p:nvPr/>
        </p:nvCxnSpPr>
        <p:spPr>
          <a:xfrm>
            <a:off x="3149600" y="713855"/>
            <a:ext cx="0" cy="6367056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n4">
            <a:extLst>
              <a:ext uri="{FF2B5EF4-FFF2-40B4-BE49-F238E27FC236}">
                <a16:creationId xmlns:a16="http://schemas.microsoft.com/office/drawing/2014/main" id="{C3A83B2F-2289-48F4-972A-E145DD678A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25391" y="3743770"/>
            <a:ext cx="538484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651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US" altLang="ko-KR" sz="16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</a:rPr>
              <a:t>MongoDB Atlas Search</a:t>
            </a:r>
          </a:p>
          <a:p>
            <a:pPr marL="342900" lvl="0" indent="-342900">
              <a:buFont typeface="+mj-lt"/>
              <a:buAutoNum type="arabicPeriod"/>
              <a:defRPr/>
            </a:pPr>
            <a:endParaRPr lang="en-US" altLang="ko-KR" sz="1600" spc="-5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en-US" altLang="ko-KR" sz="1600" spc="-5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</a:rPr>
              <a:t>MongoDB Vector Search</a:t>
            </a:r>
            <a:endParaRPr lang="en-US" altLang="ko-KR" sz="1600" spc="-50" dirty="0">
              <a:ln w="1270">
                <a:solidFill>
                  <a:srgbClr val="FF0000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7208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DD5A5-9E12-C9DC-7F0A-2DBCD6C79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05E5F88-EC46-ACD9-EF40-EF5E735673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Atlas Search</a:t>
            </a:r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359DA383-5C6A-D909-99B9-EC1F908D1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63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CA7CC-6842-9AC1-1787-F3017C0ED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31624F0-6815-1E64-1B74-1954FB0FD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0" y="1439515"/>
            <a:ext cx="3010320" cy="15527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79F73F7-ED80-7761-0690-F89192171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601" y="2327430"/>
            <a:ext cx="3077004" cy="21720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8474F29-509F-80A4-4FA9-80FE91BDF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057" y="3983614"/>
            <a:ext cx="3448531" cy="19719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0FA82B2-6EB9-5172-CC5F-1643A841A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241" y="5817998"/>
            <a:ext cx="2972215" cy="18862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Google Shape;111;p14">
            <a:extLst>
              <a:ext uri="{FF2B5EF4-FFF2-40B4-BE49-F238E27FC236}">
                <a16:creationId xmlns:a16="http://schemas.microsoft.com/office/drawing/2014/main" id="{1B145738-2AE9-AFC8-8E1D-04F17A81BC96}"/>
              </a:ext>
            </a:extLst>
          </p:cNvPr>
          <p:cNvSpPr txBox="1"/>
          <p:nvPr/>
        </p:nvSpPr>
        <p:spPr>
          <a:xfrm>
            <a:off x="133763" y="1100991"/>
            <a:ext cx="3020917" cy="3385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b="1" dirty="0"/>
              <a:t>campaigns - </a:t>
            </a:r>
            <a:r>
              <a:rPr lang="ko-KR" altLang="en-US" sz="1000" b="1" dirty="0"/>
              <a:t>광고 캠페인</a:t>
            </a:r>
            <a:endParaRPr lang="en-US" altLang="ko-KR" sz="1000" b="1" dirty="0"/>
          </a:p>
        </p:txBody>
      </p:sp>
      <p:sp>
        <p:nvSpPr>
          <p:cNvPr id="16" name="Google Shape;111;p14">
            <a:extLst>
              <a:ext uri="{FF2B5EF4-FFF2-40B4-BE49-F238E27FC236}">
                <a16:creationId xmlns:a16="http://schemas.microsoft.com/office/drawing/2014/main" id="{6B1FBA9E-E829-C38F-79C2-00F9C1D132BD}"/>
              </a:ext>
            </a:extLst>
          </p:cNvPr>
          <p:cNvSpPr txBox="1"/>
          <p:nvPr/>
        </p:nvSpPr>
        <p:spPr>
          <a:xfrm>
            <a:off x="2240387" y="1988906"/>
            <a:ext cx="3089213" cy="3385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b="1" dirty="0" err="1"/>
              <a:t>ad_groups</a:t>
            </a:r>
            <a:r>
              <a:rPr lang="en-US" altLang="ko-KR" sz="1000" b="1" dirty="0"/>
              <a:t> - </a:t>
            </a:r>
            <a:r>
              <a:rPr lang="ko-KR" altLang="en-US" sz="1000" b="1" dirty="0"/>
              <a:t>광고 그룹 </a:t>
            </a:r>
            <a:r>
              <a:rPr lang="en-US" altLang="ko-KR" sz="1000" b="1" dirty="0"/>
              <a:t>(campaigns</a:t>
            </a:r>
            <a:r>
              <a:rPr lang="ko-KR" altLang="en-US" sz="1000" b="1" dirty="0"/>
              <a:t>와 </a:t>
            </a:r>
            <a:r>
              <a:rPr lang="en-US" altLang="ko-KR" sz="1000" b="1" dirty="0"/>
              <a:t>1:N </a:t>
            </a:r>
            <a:r>
              <a:rPr lang="ko-KR" altLang="en-US" sz="1000" b="1" dirty="0"/>
              <a:t>관계</a:t>
            </a:r>
            <a:r>
              <a:rPr lang="en-US" altLang="ko-KR" sz="1000" b="1" dirty="0"/>
              <a:t>)</a:t>
            </a:r>
          </a:p>
        </p:txBody>
      </p:sp>
      <p:sp>
        <p:nvSpPr>
          <p:cNvPr id="17" name="Google Shape;111;p14">
            <a:extLst>
              <a:ext uri="{FF2B5EF4-FFF2-40B4-BE49-F238E27FC236}">
                <a16:creationId xmlns:a16="http://schemas.microsoft.com/office/drawing/2014/main" id="{33B3B9A9-F2D5-B5EA-3B3D-08818C4FDAC4}"/>
              </a:ext>
            </a:extLst>
          </p:cNvPr>
          <p:cNvSpPr txBox="1"/>
          <p:nvPr/>
        </p:nvSpPr>
        <p:spPr>
          <a:xfrm>
            <a:off x="4589760" y="3648831"/>
            <a:ext cx="3460395" cy="3385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b="1" dirty="0"/>
              <a:t>ads - </a:t>
            </a:r>
            <a:r>
              <a:rPr lang="ko-KR" altLang="en-US" sz="1000" b="1" dirty="0"/>
              <a:t>개별 광고 </a:t>
            </a:r>
            <a:r>
              <a:rPr lang="en-US" altLang="ko-KR" sz="1000" b="1" dirty="0"/>
              <a:t>(</a:t>
            </a:r>
            <a:r>
              <a:rPr lang="en-US" altLang="ko-KR" sz="1000" b="1" dirty="0" err="1"/>
              <a:t>ad_groups</a:t>
            </a:r>
            <a:r>
              <a:rPr lang="ko-KR" altLang="en-US" sz="1000" b="1" dirty="0"/>
              <a:t>와 </a:t>
            </a:r>
            <a:r>
              <a:rPr lang="en-US" altLang="ko-KR" sz="1000" b="1" dirty="0"/>
              <a:t>1:N </a:t>
            </a:r>
            <a:r>
              <a:rPr lang="ko-KR" altLang="en-US" sz="1000" b="1" dirty="0"/>
              <a:t>관계</a:t>
            </a:r>
            <a:r>
              <a:rPr lang="en-US" altLang="ko-KR" sz="1000" b="1" dirty="0"/>
              <a:t>)</a:t>
            </a:r>
          </a:p>
        </p:txBody>
      </p:sp>
      <p:sp>
        <p:nvSpPr>
          <p:cNvPr id="18" name="Google Shape;111;p14">
            <a:extLst>
              <a:ext uri="{FF2B5EF4-FFF2-40B4-BE49-F238E27FC236}">
                <a16:creationId xmlns:a16="http://schemas.microsoft.com/office/drawing/2014/main" id="{B43E0C80-FCB2-40FF-CED9-06C33C219B69}"/>
              </a:ext>
            </a:extLst>
          </p:cNvPr>
          <p:cNvSpPr txBox="1"/>
          <p:nvPr/>
        </p:nvSpPr>
        <p:spPr>
          <a:xfrm>
            <a:off x="7874003" y="5321629"/>
            <a:ext cx="2987763" cy="4924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b="1" dirty="0" err="1"/>
              <a:t>ad_performance</a:t>
            </a:r>
            <a:r>
              <a:rPr lang="en-US" altLang="ko-KR" sz="1000" b="1" dirty="0"/>
              <a:t> - </a:t>
            </a:r>
            <a:r>
              <a:rPr lang="ko-KR" altLang="en-US" sz="1000" b="1" dirty="0"/>
              <a:t>광고 성과 데이터 </a:t>
            </a:r>
            <a:endParaRPr lang="en-US" altLang="ko-KR" sz="1000" b="1" dirty="0"/>
          </a:p>
          <a:p>
            <a:pPr lvl="1"/>
            <a:r>
              <a:rPr lang="en-US" altLang="ko-KR" sz="1000" b="1" dirty="0"/>
              <a:t>(ads</a:t>
            </a:r>
            <a:r>
              <a:rPr lang="ko-KR" altLang="en-US" sz="1000" b="1" dirty="0"/>
              <a:t>와 </a:t>
            </a:r>
            <a:r>
              <a:rPr lang="en-US" altLang="ko-KR" sz="1000" b="1" dirty="0"/>
              <a:t>1:N </a:t>
            </a:r>
            <a:r>
              <a:rPr lang="ko-KR" altLang="en-US" sz="1000" b="1" dirty="0"/>
              <a:t>관계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일자별 성과</a:t>
            </a:r>
            <a:r>
              <a:rPr lang="en-US" altLang="ko-KR" sz="1000" b="1" dirty="0"/>
              <a:t>)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2F148D3-FF00-BDD9-56F8-32339FC39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Collection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특성 및 관계</a:t>
            </a:r>
          </a:p>
        </p:txBody>
      </p:sp>
    </p:spTree>
    <p:extLst>
      <p:ext uri="{BB962C8B-B14F-4D97-AF65-F5344CB8AC3E}">
        <p14:creationId xmlns:p14="http://schemas.microsoft.com/office/powerpoint/2010/main" val="3246507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5875-9E84-5CA0-1982-DB9E3181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0FE032B4-B111-DC76-5DCF-849B13E37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Atlas Search &amp; Vector Search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</a:p>
        </p:txBody>
      </p:sp>
      <p:sp>
        <p:nvSpPr>
          <p:cNvPr id="4" name="Google Shape;111;p14">
            <a:extLst>
              <a:ext uri="{FF2B5EF4-FFF2-40B4-BE49-F238E27FC236}">
                <a16:creationId xmlns:a16="http://schemas.microsoft.com/office/drawing/2014/main" id="{449FF54A-9661-F5FA-9277-2CE8DEDB496B}"/>
              </a:ext>
            </a:extLst>
          </p:cNvPr>
          <p:cNvSpPr txBox="1"/>
          <p:nvPr/>
        </p:nvSpPr>
        <p:spPr>
          <a:xfrm>
            <a:off x="431998" y="1447091"/>
            <a:ext cx="8694216" cy="44011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/>
              <a:t>1. Atlas Search (</a:t>
            </a:r>
            <a:r>
              <a:rPr lang="ko-KR" altLang="en-US" sz="1200" b="1" dirty="0"/>
              <a:t>전문 검색</a:t>
            </a:r>
            <a:r>
              <a:rPr lang="en-US" altLang="ko-KR" sz="1200" b="1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기능</a:t>
            </a:r>
            <a:r>
              <a:rPr lang="en-US" altLang="ko-KR" sz="1000" dirty="0"/>
              <a:t>: </a:t>
            </a:r>
            <a:r>
              <a:rPr lang="ko-KR" altLang="en-US" sz="1000" dirty="0"/>
              <a:t>텍스트 기반의 고급 검색 </a:t>
            </a:r>
            <a:r>
              <a:rPr lang="en-US" altLang="ko-KR" sz="1000" dirty="0"/>
              <a:t>(</a:t>
            </a:r>
            <a:r>
              <a:rPr lang="ko-KR" altLang="en-US" sz="1000" dirty="0"/>
              <a:t>예 </a:t>
            </a:r>
            <a:r>
              <a:rPr lang="en-US" altLang="ko-KR" sz="1000" dirty="0"/>
              <a:t>: Google </a:t>
            </a:r>
            <a:r>
              <a:rPr lang="ko-KR" altLang="en-US" sz="1000" dirty="0"/>
              <a:t>검색</a:t>
            </a:r>
            <a:r>
              <a:rPr lang="en-US" altLang="ko-KR" sz="1000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특징</a:t>
            </a:r>
            <a:r>
              <a:rPr lang="en-US" altLang="ko-KR" sz="1000" dirty="0"/>
              <a:t>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오타 허용 </a:t>
            </a:r>
            <a:r>
              <a:rPr lang="en-US" altLang="ko-KR" sz="1000" dirty="0"/>
              <a:t>(fuzzy search)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자동완성 </a:t>
            </a:r>
            <a:r>
              <a:rPr lang="en-US" altLang="ko-KR" sz="1000" dirty="0"/>
              <a:t>(autocomplete)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형태소 분석 </a:t>
            </a:r>
            <a:r>
              <a:rPr lang="en-US" altLang="ko-KR" sz="1000" dirty="0"/>
              <a:t>(</a:t>
            </a:r>
            <a:r>
              <a:rPr lang="ko-KR" altLang="en-US" sz="1000" dirty="0"/>
              <a:t>한국어</a:t>
            </a:r>
            <a:r>
              <a:rPr lang="en-US" altLang="ko-KR" sz="1000" dirty="0"/>
              <a:t>, </a:t>
            </a:r>
            <a:r>
              <a:rPr lang="ko-KR" altLang="en-US" sz="1000" dirty="0"/>
              <a:t>영어 등</a:t>
            </a:r>
            <a:r>
              <a:rPr lang="en-US" altLang="ko-KR" sz="1000" dirty="0"/>
              <a:t>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 점수</a:t>
            </a:r>
            <a:r>
              <a:rPr lang="en-US" altLang="ko-KR" sz="1000" dirty="0"/>
              <a:t>(relevance score)</a:t>
            </a:r>
            <a:r>
              <a:rPr lang="ko-KR" altLang="en-US" sz="1000" dirty="0"/>
              <a:t>로 정렬</a:t>
            </a:r>
            <a:endParaRPr lang="en-US" altLang="ko-KR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ko-KR" altLang="en-US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사용 예시</a:t>
            </a:r>
            <a:r>
              <a:rPr lang="en-US" altLang="ko-KR" sz="1000" dirty="0"/>
              <a:t>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스마트폰</a:t>
            </a:r>
            <a:r>
              <a:rPr lang="en-US" altLang="ko-KR" sz="1000" dirty="0"/>
              <a:t>" </a:t>
            </a:r>
            <a:r>
              <a:rPr lang="ko-KR" altLang="en-US" sz="1000" dirty="0"/>
              <a:t>검색 시</a:t>
            </a:r>
            <a:endParaRPr lang="en-US" altLang="ko-KR" sz="1000" dirty="0"/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스마트 폰</a:t>
            </a:r>
            <a:r>
              <a:rPr lang="en-US" altLang="ko-KR" sz="1000" dirty="0"/>
              <a:t>", "smartphone“ </a:t>
            </a:r>
            <a:r>
              <a:rPr lang="ko-KR" altLang="en-US" sz="1000" dirty="0"/>
              <a:t>등도 찾기 가능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스마트톤</a:t>
            </a:r>
            <a:r>
              <a:rPr lang="en-US" altLang="ko-KR" sz="1000" dirty="0"/>
              <a:t>＂ </a:t>
            </a:r>
            <a:r>
              <a:rPr lang="ko-KR" altLang="en-US" sz="1000" dirty="0"/>
              <a:t>검색 시</a:t>
            </a:r>
            <a:endParaRPr lang="en-US" altLang="ko-KR" sz="1000" dirty="0"/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＂</a:t>
            </a:r>
            <a:r>
              <a:rPr lang="ko-KR" altLang="en-US" sz="1000" dirty="0"/>
              <a:t>스마트 폰</a:t>
            </a:r>
            <a:r>
              <a:rPr lang="en-US" altLang="ko-KR" sz="1000" dirty="0"/>
              <a:t>“ </a:t>
            </a:r>
            <a:r>
              <a:rPr lang="ko-KR" altLang="en-US" sz="1000" dirty="0"/>
              <a:t>찾기 가능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ko-KR" alt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/>
              <a:t>2. Vector Search (Vector</a:t>
            </a:r>
            <a:r>
              <a:rPr lang="ko-KR" altLang="en-US" sz="1200" b="1" dirty="0"/>
              <a:t> 검색</a:t>
            </a:r>
            <a:r>
              <a:rPr lang="en-US" altLang="ko-KR" sz="1200" b="1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기능</a:t>
            </a:r>
            <a:r>
              <a:rPr lang="en-US" altLang="ko-KR" sz="1000" dirty="0"/>
              <a:t>: AI/ML </a:t>
            </a:r>
            <a:r>
              <a:rPr lang="ko-KR" altLang="en-US" sz="1000" dirty="0"/>
              <a:t>모델을 활용한 의미 기반 검색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ko-KR" altLang="en-US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특징</a:t>
            </a:r>
            <a:r>
              <a:rPr lang="en-US" altLang="ko-KR" sz="1000" dirty="0"/>
              <a:t>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유사한 의미의 문서 찾기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이미지</a:t>
            </a:r>
            <a:r>
              <a:rPr lang="en-US" altLang="ko-KR" sz="1000" dirty="0"/>
              <a:t>, </a:t>
            </a:r>
            <a:r>
              <a:rPr lang="ko-KR" altLang="en-US" sz="1000" dirty="0"/>
              <a:t>텍스트의 의미적 유사도 검색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추천 시스템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챗봇에서</a:t>
            </a:r>
            <a:r>
              <a:rPr lang="ko-KR" altLang="en-US" sz="1000" dirty="0"/>
              <a:t> 활용</a:t>
            </a:r>
            <a:endParaRPr lang="en-US" altLang="ko-KR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ko-KR" altLang="en-US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사용 예시</a:t>
            </a:r>
            <a:r>
              <a:rPr lang="en-US" altLang="ko-KR" sz="1000" dirty="0"/>
              <a:t>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저렴한 휴대폰</a:t>
            </a:r>
            <a:r>
              <a:rPr lang="en-US" altLang="ko-KR" sz="1000" dirty="0"/>
              <a:t>" </a:t>
            </a:r>
            <a:r>
              <a:rPr lang="ko-KR" altLang="en-US" sz="1000" dirty="0"/>
              <a:t>검색 시 </a:t>
            </a:r>
            <a:endParaRPr lang="en-US" altLang="ko-KR" sz="1000" dirty="0"/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가성비 스마트폰</a:t>
            </a:r>
            <a:r>
              <a:rPr lang="en-US" altLang="ko-KR" sz="1000" dirty="0"/>
              <a:t>", "</a:t>
            </a:r>
            <a:r>
              <a:rPr lang="ko-KR" altLang="en-US" sz="1000" dirty="0"/>
              <a:t>할인 핸드폰</a:t>
            </a:r>
            <a:r>
              <a:rPr lang="en-US" altLang="ko-KR" sz="1000" dirty="0"/>
              <a:t>" </a:t>
            </a:r>
            <a:r>
              <a:rPr lang="ko-KR" altLang="en-US" sz="1000" dirty="0"/>
              <a:t>등 의미적으로 유사한 결과 반환</a:t>
            </a:r>
            <a:endParaRPr lang="en-US" altLang="ko-KR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069200-0BDB-1FAE-B95F-7A7FFE245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016" y="1727547"/>
            <a:ext cx="3168352" cy="114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65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919F5-1C23-9A47-F254-7566043ED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5BF73EA9-2553-529E-F630-811089259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871" y="143371"/>
            <a:ext cx="5236006" cy="75453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DE6861F5-747A-779D-19BF-84D93D0E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Atlas Search (Database &amp; Collection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746124-B2D8-45CE-5376-DDC1495DA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75" y="1223491"/>
            <a:ext cx="5447198" cy="171998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EDAD83D-7353-233A-E838-A1F514B1744F}"/>
              </a:ext>
            </a:extLst>
          </p:cNvPr>
          <p:cNvCxnSpPr>
            <a:cxnSpLocks/>
          </p:cNvCxnSpPr>
          <p:nvPr/>
        </p:nvCxnSpPr>
        <p:spPr>
          <a:xfrm>
            <a:off x="5167326" y="1943571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70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379F2-B581-0356-C639-65E98538A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EF15AA2E-1829-BC44-FD85-7FE1ECF0C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180" y="1187808"/>
            <a:ext cx="4385006" cy="55439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7C6E904-44C5-35F2-F8E0-8D3925988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27" y="2570650"/>
            <a:ext cx="5236007" cy="27782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27A33EBB-1813-8390-72BA-569A5449B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Atlas Search 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검색할 필드 설정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81A7645-DCF2-4502-49C4-372635F5FE50}"/>
              </a:ext>
            </a:extLst>
          </p:cNvPr>
          <p:cNvCxnSpPr>
            <a:cxnSpLocks/>
          </p:cNvCxnSpPr>
          <p:nvPr/>
        </p:nvCxnSpPr>
        <p:spPr>
          <a:xfrm>
            <a:off x="5525864" y="3959795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453F3C-03E8-B2CA-E16C-703E51790678}"/>
              </a:ext>
            </a:extLst>
          </p:cNvPr>
          <p:cNvSpPr/>
          <p:nvPr/>
        </p:nvSpPr>
        <p:spPr>
          <a:xfrm>
            <a:off x="9630320" y="6371740"/>
            <a:ext cx="1011866" cy="3600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9F21B5-9968-ABEA-4AEF-751CA4F3020A}"/>
              </a:ext>
            </a:extLst>
          </p:cNvPr>
          <p:cNvSpPr/>
          <p:nvPr/>
        </p:nvSpPr>
        <p:spPr>
          <a:xfrm>
            <a:off x="6317952" y="4175819"/>
            <a:ext cx="3960440" cy="19442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442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B0B64-BF3C-ED2D-0CB4-3E48CAA1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DCAFDCA5-0EB7-A8A4-C401-AF8408B68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43" y="3338116"/>
            <a:ext cx="10566424" cy="1347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8CE1B8C-B049-1D49-344D-FD425620C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43" y="1367507"/>
            <a:ext cx="10566425" cy="16545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D5A77FC7-E8ED-735D-246C-F03CFAA64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Atlas Search 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검색할 필드 설정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9817075-5438-7A38-AD69-CB3F5B44D0FD}"/>
              </a:ext>
            </a:extLst>
          </p:cNvPr>
          <p:cNvCxnSpPr>
            <a:cxnSpLocks/>
          </p:cNvCxnSpPr>
          <p:nvPr/>
        </p:nvCxnSpPr>
        <p:spPr>
          <a:xfrm>
            <a:off x="5453855" y="2925140"/>
            <a:ext cx="0" cy="576064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7918A1FA-40E7-723E-2640-466CBC95A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43" y="5001221"/>
            <a:ext cx="3863675" cy="23014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A54BD6C4-AA0C-16BC-461E-BDB807170EDC}"/>
              </a:ext>
            </a:extLst>
          </p:cNvPr>
          <p:cNvSpPr txBox="1"/>
          <p:nvPr/>
        </p:nvSpPr>
        <p:spPr>
          <a:xfrm>
            <a:off x="4445744" y="5828790"/>
            <a:ext cx="3186607" cy="646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b="1" dirty="0" err="1"/>
              <a:t>MongoSH</a:t>
            </a:r>
            <a:endParaRPr lang="en-US" altLang="ko-KR" sz="1000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b="1" dirty="0"/>
              <a:t>use </a:t>
            </a:r>
            <a:r>
              <a:rPr lang="en-US" altLang="ko-KR" sz="1000" b="1" dirty="0" err="1"/>
              <a:t>ad_analytics</a:t>
            </a:r>
            <a:r>
              <a:rPr lang="en-US" altLang="ko-KR" sz="1000" b="1" dirty="0"/>
              <a:t> (Database </a:t>
            </a:r>
            <a:r>
              <a:rPr lang="ko-KR" altLang="en-US" sz="1000" b="1" dirty="0"/>
              <a:t>지정</a:t>
            </a:r>
            <a:r>
              <a:rPr lang="en-US" altLang="ko-KR" sz="1000" b="1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b="1" dirty="0" err="1"/>
              <a:t>MongoSH</a:t>
            </a:r>
            <a:r>
              <a:rPr lang="ko-KR" altLang="en-US" sz="1000" b="1" dirty="0"/>
              <a:t>에서 명령어 수행 할 준비 완료</a:t>
            </a:r>
            <a:endParaRPr lang="en-US" altLang="ko-KR" sz="1000" b="1" dirty="0"/>
          </a:p>
        </p:txBody>
      </p:sp>
    </p:spTree>
    <p:extLst>
      <p:ext uri="{BB962C8B-B14F-4D97-AF65-F5344CB8AC3E}">
        <p14:creationId xmlns:p14="http://schemas.microsoft.com/office/powerpoint/2010/main" val="845831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BEC06-9DD0-EC63-D15E-CC3835DC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E5371DE0-0968-3E97-CE85-D6AE5FC5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Atlas Search 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"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스마트폰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A760D00-26C7-6AAC-5AE8-A8B5E839F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64" y="1439515"/>
            <a:ext cx="3369288" cy="57599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0E91A11-88A8-97FE-F7A2-46D89A313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417" y="2617002"/>
            <a:ext cx="3739745" cy="29736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C13F34F-039B-D655-6426-61661507F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327" y="3222203"/>
            <a:ext cx="3164122" cy="176321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0B3F66C-C3E5-6B4A-0822-CF278E120B60}"/>
              </a:ext>
            </a:extLst>
          </p:cNvPr>
          <p:cNvCxnSpPr>
            <a:cxnSpLocks/>
          </p:cNvCxnSpPr>
          <p:nvPr/>
        </p:nvCxnSpPr>
        <p:spPr>
          <a:xfrm>
            <a:off x="3207445" y="4103811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6F6C4CB-0455-B6FB-C465-83D560EEA075}"/>
              </a:ext>
            </a:extLst>
          </p:cNvPr>
          <p:cNvCxnSpPr>
            <a:cxnSpLocks/>
          </p:cNvCxnSpPr>
          <p:nvPr/>
        </p:nvCxnSpPr>
        <p:spPr>
          <a:xfrm>
            <a:off x="7158700" y="4103811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111;p14">
            <a:extLst>
              <a:ext uri="{FF2B5EF4-FFF2-40B4-BE49-F238E27FC236}">
                <a16:creationId xmlns:a16="http://schemas.microsoft.com/office/drawing/2014/main" id="{C59FB774-AD24-7AD4-E4E7-D45E4B5CF2E8}"/>
              </a:ext>
            </a:extLst>
          </p:cNvPr>
          <p:cNvSpPr txBox="1"/>
          <p:nvPr/>
        </p:nvSpPr>
        <p:spPr>
          <a:xfrm>
            <a:off x="4139456" y="5759995"/>
            <a:ext cx="3186607" cy="18774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$search: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Atlas Search </a:t>
            </a:r>
            <a:r>
              <a:rPr lang="ko-KR" altLang="en-US" sz="1000" dirty="0"/>
              <a:t>전용 연산자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text.query</a:t>
            </a:r>
            <a:r>
              <a:rPr lang="en-US" altLang="ko-KR" sz="1000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검색어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text.path</a:t>
            </a:r>
            <a:r>
              <a:rPr lang="en-US" altLang="ko-KR" sz="1000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검색할 필드 목록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score: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 관련도 점수 </a:t>
            </a:r>
            <a:r>
              <a:rPr lang="en-US" altLang="ko-KR" sz="1000" dirty="0"/>
              <a:t>(</a:t>
            </a:r>
            <a:r>
              <a:rPr lang="ko-KR" altLang="en-US" sz="1000" dirty="0"/>
              <a:t>높을수록 관련성 높음</a:t>
            </a:r>
            <a:r>
              <a:rPr lang="en-US" altLang="ko-KR" sz="1000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/>
              <a:t>＂</a:t>
            </a:r>
            <a:r>
              <a:rPr lang="ko-KR" altLang="en-US" sz="1000" b="1" dirty="0"/>
              <a:t>스마트폰</a:t>
            </a:r>
            <a:r>
              <a:rPr lang="en-US" altLang="ko-KR" sz="1000" b="1" dirty="0"/>
              <a:t>＂</a:t>
            </a:r>
            <a:r>
              <a:rPr lang="ko-KR" altLang="en-US" sz="1000" b="1" dirty="0"/>
              <a:t>이 포함된 광고 모두 검색됨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점수 높은 순으로 정렬</a:t>
            </a:r>
            <a:endParaRPr lang="en-US" altLang="ko-KR" sz="10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20A30BF-88C5-0BCF-3B9C-3C98E91D22ED}"/>
              </a:ext>
            </a:extLst>
          </p:cNvPr>
          <p:cNvSpPr/>
          <p:nvPr/>
        </p:nvSpPr>
        <p:spPr>
          <a:xfrm>
            <a:off x="4177469" y="3403326"/>
            <a:ext cx="936640" cy="1628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A38963-0966-E1A5-8380-508ED7C75FCC}"/>
              </a:ext>
            </a:extLst>
          </p:cNvPr>
          <p:cNvSpPr/>
          <p:nvPr/>
        </p:nvSpPr>
        <p:spPr>
          <a:xfrm>
            <a:off x="4107800" y="3098526"/>
            <a:ext cx="1274047" cy="1628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0C927F-3D0D-829D-4C21-FB6F93FA2535}"/>
              </a:ext>
            </a:extLst>
          </p:cNvPr>
          <p:cNvSpPr/>
          <p:nvPr/>
        </p:nvSpPr>
        <p:spPr>
          <a:xfrm>
            <a:off x="4175291" y="3584029"/>
            <a:ext cx="3192160" cy="1628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53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F6CB4-CBF1-9D83-3444-FBD01D4BC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8822874-70C9-8DFE-BEDF-4487B8FD5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063" y="2159595"/>
            <a:ext cx="3303430" cy="3418273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DB92369A-9612-BC4D-A3D5-2323079F4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Atlas Search 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"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할인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또는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특가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(OR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조건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CE66FC1-2926-86F7-B9C6-64C6DDF073D1}"/>
              </a:ext>
            </a:extLst>
          </p:cNvPr>
          <p:cNvCxnSpPr>
            <a:cxnSpLocks/>
          </p:cNvCxnSpPr>
          <p:nvPr/>
        </p:nvCxnSpPr>
        <p:spPr>
          <a:xfrm>
            <a:off x="3207445" y="4103811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1B36E3B-604A-212E-6A07-16C21299DDC4}"/>
              </a:ext>
            </a:extLst>
          </p:cNvPr>
          <p:cNvCxnSpPr>
            <a:cxnSpLocks/>
          </p:cNvCxnSpPr>
          <p:nvPr/>
        </p:nvCxnSpPr>
        <p:spPr>
          <a:xfrm>
            <a:off x="7158700" y="4103811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111;p14">
            <a:extLst>
              <a:ext uri="{FF2B5EF4-FFF2-40B4-BE49-F238E27FC236}">
                <a16:creationId xmlns:a16="http://schemas.microsoft.com/office/drawing/2014/main" id="{5EB6FC72-049C-05C6-627E-7AD3DE049A20}"/>
              </a:ext>
            </a:extLst>
          </p:cNvPr>
          <p:cNvSpPr txBox="1"/>
          <p:nvPr/>
        </p:nvSpPr>
        <p:spPr>
          <a:xfrm>
            <a:off x="4139456" y="5759995"/>
            <a:ext cx="3186607" cy="18774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$search: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Atlas Search </a:t>
            </a:r>
            <a:r>
              <a:rPr lang="ko-KR" altLang="en-US" sz="1000" dirty="0"/>
              <a:t>전용 연산자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text.query</a:t>
            </a:r>
            <a:r>
              <a:rPr lang="en-US" altLang="ko-KR" sz="1000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검색어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text.path</a:t>
            </a:r>
            <a:r>
              <a:rPr lang="en-US" altLang="ko-KR" sz="1000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검색할 필드 목록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score: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 관련도 점수 </a:t>
            </a:r>
            <a:r>
              <a:rPr lang="en-US" altLang="ko-KR" sz="1000" dirty="0"/>
              <a:t>(</a:t>
            </a:r>
            <a:r>
              <a:rPr lang="ko-KR" altLang="en-US" sz="1000" dirty="0"/>
              <a:t>높을수록 관련성 높음</a:t>
            </a:r>
            <a:r>
              <a:rPr lang="en-US" altLang="ko-KR" sz="1000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/>
              <a:t>"</a:t>
            </a:r>
            <a:r>
              <a:rPr lang="ko-KR" altLang="en-US" sz="1000" b="1" dirty="0"/>
              <a:t>할인</a:t>
            </a:r>
            <a:r>
              <a:rPr lang="en-US" altLang="ko-KR" sz="1000" b="1" dirty="0"/>
              <a:t>" </a:t>
            </a:r>
            <a:r>
              <a:rPr lang="ko-KR" altLang="en-US" sz="1000" b="1" dirty="0"/>
              <a:t>또는 </a:t>
            </a:r>
            <a:r>
              <a:rPr lang="en-US" altLang="ko-KR" sz="1000" b="1" dirty="0"/>
              <a:t>"</a:t>
            </a:r>
            <a:r>
              <a:rPr lang="ko-KR" altLang="en-US" sz="1000" b="1" dirty="0"/>
              <a:t>특가</a:t>
            </a:r>
            <a:r>
              <a:rPr lang="en-US" altLang="ko-KR" sz="1000" b="1" dirty="0"/>
              <a:t>"</a:t>
            </a:r>
            <a:r>
              <a:rPr lang="ko-KR" altLang="en-US" sz="1000" b="1" dirty="0"/>
              <a:t>가 포함된 광고 모두 검색됨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점수 높은 순으로 정렬</a:t>
            </a:r>
            <a:endParaRPr lang="en-US" altLang="ko-KR" sz="10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189ECA5-8563-4AF4-3AEB-8DD94A88C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257" y="2812920"/>
            <a:ext cx="2649722" cy="258178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2F95A2B-471B-477F-6F2F-56BF40E1C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1" y="1151483"/>
            <a:ext cx="3044871" cy="64080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7CB2098-AAE9-F910-6937-69DA1CF2A18A}"/>
              </a:ext>
            </a:extLst>
          </p:cNvPr>
          <p:cNvSpPr/>
          <p:nvPr/>
        </p:nvSpPr>
        <p:spPr>
          <a:xfrm>
            <a:off x="4371234" y="3152955"/>
            <a:ext cx="2728429" cy="1628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F01BEA-8A23-2002-21D4-5CCC6E89663D}"/>
              </a:ext>
            </a:extLst>
          </p:cNvPr>
          <p:cNvSpPr/>
          <p:nvPr/>
        </p:nvSpPr>
        <p:spPr>
          <a:xfrm>
            <a:off x="4268909" y="2665275"/>
            <a:ext cx="1400972" cy="1628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34647F-97D5-9914-328F-4B84DD23D7CD}"/>
              </a:ext>
            </a:extLst>
          </p:cNvPr>
          <p:cNvSpPr/>
          <p:nvPr/>
        </p:nvSpPr>
        <p:spPr>
          <a:xfrm>
            <a:off x="4369058" y="2974429"/>
            <a:ext cx="1012790" cy="1628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530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73393-C1C0-96EE-1E00-F860DE293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B5702CC2-658E-3610-A6DC-33376CC34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Atlas Search 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퍼지 검색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오타 허용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5F11C31-7914-D166-E83A-9665DB776919}"/>
              </a:ext>
            </a:extLst>
          </p:cNvPr>
          <p:cNvCxnSpPr>
            <a:cxnSpLocks/>
          </p:cNvCxnSpPr>
          <p:nvPr/>
        </p:nvCxnSpPr>
        <p:spPr>
          <a:xfrm>
            <a:off x="3207445" y="4103811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04C4FE0-DF1C-7234-4D1C-B0340F0C135C}"/>
              </a:ext>
            </a:extLst>
          </p:cNvPr>
          <p:cNvCxnSpPr>
            <a:cxnSpLocks/>
          </p:cNvCxnSpPr>
          <p:nvPr/>
        </p:nvCxnSpPr>
        <p:spPr>
          <a:xfrm>
            <a:off x="7158700" y="4103811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111;p14">
            <a:extLst>
              <a:ext uri="{FF2B5EF4-FFF2-40B4-BE49-F238E27FC236}">
                <a16:creationId xmlns:a16="http://schemas.microsoft.com/office/drawing/2014/main" id="{A1C97941-7B60-8E1A-06DD-626C5BC07CD9}"/>
              </a:ext>
            </a:extLst>
          </p:cNvPr>
          <p:cNvSpPr txBox="1"/>
          <p:nvPr/>
        </p:nvSpPr>
        <p:spPr>
          <a:xfrm>
            <a:off x="3541454" y="5759995"/>
            <a:ext cx="4266728" cy="18774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$search: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Atlas Search </a:t>
            </a:r>
            <a:r>
              <a:rPr lang="ko-KR" altLang="en-US" sz="1000" dirty="0"/>
              <a:t>전용 연산자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text.query</a:t>
            </a:r>
            <a:r>
              <a:rPr lang="en-US" altLang="ko-KR" sz="1000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검색어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text.path</a:t>
            </a:r>
            <a:r>
              <a:rPr lang="en-US" altLang="ko-KR" sz="1000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검색할 필드 목록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score: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 관련도 점수 </a:t>
            </a:r>
            <a:r>
              <a:rPr lang="en-US" altLang="ko-KR" sz="1000" dirty="0"/>
              <a:t>(</a:t>
            </a:r>
            <a:r>
              <a:rPr lang="ko-KR" altLang="en-US" sz="1000" dirty="0"/>
              <a:t>높을수록 관련성 높음</a:t>
            </a:r>
            <a:r>
              <a:rPr lang="en-US" altLang="ko-KR" sz="1000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사용자가 </a:t>
            </a:r>
            <a:r>
              <a:rPr lang="en-US" altLang="ko-KR" sz="1000" b="1" dirty="0"/>
              <a:t>"</a:t>
            </a:r>
            <a:r>
              <a:rPr lang="ko-KR" altLang="en-US" sz="1000" b="1" dirty="0"/>
              <a:t>스마트톤</a:t>
            </a:r>
            <a:r>
              <a:rPr lang="en-US" altLang="ko-KR" sz="1000" b="1" dirty="0"/>
              <a:t>" (</a:t>
            </a:r>
            <a:r>
              <a:rPr lang="ko-KR" altLang="en-US" sz="1000" b="1" dirty="0"/>
              <a:t>오타</a:t>
            </a:r>
            <a:r>
              <a:rPr lang="en-US" altLang="ko-KR" sz="1000" b="1" dirty="0"/>
              <a:t>)</a:t>
            </a:r>
            <a:r>
              <a:rPr lang="ko-KR" altLang="en-US" sz="1000" b="1" dirty="0"/>
              <a:t>라고 입력해도 </a:t>
            </a:r>
            <a:r>
              <a:rPr lang="en-US" altLang="ko-KR" sz="1000" b="1" dirty="0"/>
              <a:t>"</a:t>
            </a:r>
            <a:r>
              <a:rPr lang="ko-KR" altLang="en-US" sz="1000" b="1" dirty="0"/>
              <a:t>스마트폰</a:t>
            </a:r>
            <a:r>
              <a:rPr lang="en-US" altLang="ko-KR" sz="1000" b="1" dirty="0"/>
              <a:t>"</a:t>
            </a:r>
            <a:r>
              <a:rPr lang="ko-KR" altLang="en-US" sz="1000" b="1" dirty="0"/>
              <a:t>을 </a:t>
            </a:r>
            <a:r>
              <a:rPr lang="ko-KR" altLang="en-US" sz="1000" b="1" dirty="0" err="1"/>
              <a:t>찾아줌</a:t>
            </a: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 err="1"/>
              <a:t>fuzzy.maxEdits</a:t>
            </a:r>
            <a:r>
              <a:rPr lang="en-US" altLang="ko-KR" sz="1000" b="1" dirty="0"/>
              <a:t>: </a:t>
            </a:r>
            <a:r>
              <a:rPr lang="ko-KR" altLang="en-US" sz="1000" b="1" dirty="0"/>
              <a:t>허용할 오타 개수 </a:t>
            </a:r>
            <a:r>
              <a:rPr lang="en-US" altLang="ko-KR" sz="1000" b="1" dirty="0"/>
              <a:t>(1 </a:t>
            </a:r>
            <a:r>
              <a:rPr lang="ko-KR" altLang="en-US" sz="1000" b="1" dirty="0"/>
              <a:t>또는 </a:t>
            </a:r>
            <a:r>
              <a:rPr lang="en-US" altLang="ko-KR" sz="1000" b="1" dirty="0"/>
              <a:t>2)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98CF9F0-49D1-6C44-FD66-F046581A9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456" y="1717408"/>
            <a:ext cx="2488736" cy="39075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604E94D-25DF-6836-AB48-47DFA6DC8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752" y="3355344"/>
            <a:ext cx="3009460" cy="149693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D920A7A-F2BF-694A-BCC1-BD9F6601F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0" y="1439515"/>
            <a:ext cx="2618179" cy="57599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3FBAD93-B45C-44DF-C6FF-6B39D8A86C2C}"/>
              </a:ext>
            </a:extLst>
          </p:cNvPr>
          <p:cNvSpPr/>
          <p:nvPr/>
        </p:nvSpPr>
        <p:spPr>
          <a:xfrm>
            <a:off x="4733775" y="2665275"/>
            <a:ext cx="1137979" cy="1628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992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204DE-F59B-F82C-B00D-10D4A4AA2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17B3DDDC-5BDC-F2E8-ED3E-8C87F51A3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Atlas Search 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자동완성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(Autocomplete))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3" name="Google Shape;111;p14">
            <a:extLst>
              <a:ext uri="{FF2B5EF4-FFF2-40B4-BE49-F238E27FC236}">
                <a16:creationId xmlns:a16="http://schemas.microsoft.com/office/drawing/2014/main" id="{0A90CF67-B0EF-A137-295E-0C2D920E36B2}"/>
              </a:ext>
            </a:extLst>
          </p:cNvPr>
          <p:cNvSpPr txBox="1"/>
          <p:nvPr/>
        </p:nvSpPr>
        <p:spPr>
          <a:xfrm>
            <a:off x="7392562" y="1644339"/>
            <a:ext cx="3241027" cy="8001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자동완성용 인덱스 재생성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Atlas Search </a:t>
            </a:r>
            <a:r>
              <a:rPr lang="ko-KR" altLang="en-US" sz="1000" dirty="0"/>
              <a:t>메뉴에서 기존 인덱스 수정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ad_name</a:t>
            </a:r>
            <a:r>
              <a:rPr lang="en-US" altLang="ko-KR" sz="1000" dirty="0"/>
              <a:t> </a:t>
            </a:r>
            <a:r>
              <a:rPr lang="ko-KR" altLang="en-US" sz="1000" dirty="0"/>
              <a:t>필드 타입을 **</a:t>
            </a:r>
            <a:r>
              <a:rPr lang="en-US" altLang="ko-KR" sz="1000" dirty="0"/>
              <a:t>"autocomplete"**</a:t>
            </a:r>
            <a:r>
              <a:rPr lang="ko-KR" altLang="en-US" sz="1000" dirty="0"/>
              <a:t>로 변경</a:t>
            </a:r>
            <a:endParaRPr lang="en-US" altLang="ko-KR" sz="1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170D88-5BCA-F2F3-6E90-3E8F9A32A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64" y="1151483"/>
            <a:ext cx="7038032" cy="20268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189ABB4-81C5-A821-7999-DAEBE3A4E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880" y="3220509"/>
            <a:ext cx="4976952" cy="21193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02C7C7A-E908-D010-7373-54ED35494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36" y="4103811"/>
            <a:ext cx="3549038" cy="322970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3CA3D1F-EC17-E242-B29B-172DAA58BE2D}"/>
              </a:ext>
            </a:extLst>
          </p:cNvPr>
          <p:cNvCxnSpPr>
            <a:cxnSpLocks/>
          </p:cNvCxnSpPr>
          <p:nvPr/>
        </p:nvCxnSpPr>
        <p:spPr>
          <a:xfrm>
            <a:off x="6966024" y="2879675"/>
            <a:ext cx="504056" cy="4320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2FE9997-2763-A288-C8F7-C6C32C4B7048}"/>
              </a:ext>
            </a:extLst>
          </p:cNvPr>
          <p:cNvCxnSpPr>
            <a:cxnSpLocks/>
          </p:cNvCxnSpPr>
          <p:nvPr/>
        </p:nvCxnSpPr>
        <p:spPr>
          <a:xfrm flipH="1">
            <a:off x="4373736" y="4280162"/>
            <a:ext cx="1180871" cy="68774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09289A36-24FF-79D6-8BED-0950BDFF8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880" y="5472536"/>
            <a:ext cx="5041699" cy="211471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FD97761-5DCC-B076-3505-E1D26CC0A9A1}"/>
              </a:ext>
            </a:extLst>
          </p:cNvPr>
          <p:cNvCxnSpPr>
            <a:cxnSpLocks/>
          </p:cNvCxnSpPr>
          <p:nvPr/>
        </p:nvCxnSpPr>
        <p:spPr>
          <a:xfrm>
            <a:off x="4405691" y="6069774"/>
            <a:ext cx="1148916" cy="41030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54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52F8F-8C86-8F1B-2276-C1C623140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24DBA22A-DD6B-C4B7-2975-1C081897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Atlas Search 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자동완성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(Autocomplete))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790BAD5-5716-ADFD-360F-17E5EAD7FD5E}"/>
              </a:ext>
            </a:extLst>
          </p:cNvPr>
          <p:cNvCxnSpPr>
            <a:cxnSpLocks/>
          </p:cNvCxnSpPr>
          <p:nvPr/>
        </p:nvCxnSpPr>
        <p:spPr>
          <a:xfrm>
            <a:off x="3207445" y="4103811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B146EE0-B379-8AF8-0E59-E30C7F099043}"/>
              </a:ext>
            </a:extLst>
          </p:cNvPr>
          <p:cNvCxnSpPr>
            <a:cxnSpLocks/>
          </p:cNvCxnSpPr>
          <p:nvPr/>
        </p:nvCxnSpPr>
        <p:spPr>
          <a:xfrm>
            <a:off x="7158700" y="4103811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111;p14">
            <a:extLst>
              <a:ext uri="{FF2B5EF4-FFF2-40B4-BE49-F238E27FC236}">
                <a16:creationId xmlns:a16="http://schemas.microsoft.com/office/drawing/2014/main" id="{49E04F5B-CAFE-B805-93DA-ADE69C5D84C2}"/>
              </a:ext>
            </a:extLst>
          </p:cNvPr>
          <p:cNvSpPr txBox="1"/>
          <p:nvPr/>
        </p:nvSpPr>
        <p:spPr>
          <a:xfrm>
            <a:off x="3541454" y="5759995"/>
            <a:ext cx="4266728" cy="17235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$search: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Atlas Search </a:t>
            </a:r>
            <a:r>
              <a:rPr lang="ko-KR" altLang="en-US" sz="1000" dirty="0"/>
              <a:t>전용 연산자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text.query</a:t>
            </a:r>
            <a:r>
              <a:rPr lang="en-US" altLang="ko-KR" sz="1000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검색어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text.path</a:t>
            </a:r>
            <a:r>
              <a:rPr lang="en-US" altLang="ko-KR" sz="1000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검색할 필드 목록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score: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 관련도 점수 </a:t>
            </a:r>
            <a:r>
              <a:rPr lang="en-US" altLang="ko-KR" sz="1000" dirty="0"/>
              <a:t>(</a:t>
            </a:r>
            <a:r>
              <a:rPr lang="ko-KR" altLang="en-US" sz="1000" dirty="0"/>
              <a:t>높을수록 관련성 높음</a:t>
            </a:r>
            <a:r>
              <a:rPr lang="en-US" altLang="ko-KR" sz="1000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/>
              <a:t>"</a:t>
            </a:r>
            <a:r>
              <a:rPr lang="ko-KR" altLang="en-US" sz="1000" b="1" dirty="0"/>
              <a:t>스마트</a:t>
            </a:r>
            <a:r>
              <a:rPr lang="en-US" altLang="ko-KR" sz="1000" b="1" dirty="0"/>
              <a:t>" </a:t>
            </a:r>
            <a:r>
              <a:rPr lang="ko-KR" altLang="en-US" sz="1000" b="1" dirty="0"/>
              <a:t>입력 → </a:t>
            </a:r>
            <a:r>
              <a:rPr lang="en-US" altLang="ko-KR" sz="1000" b="1" dirty="0"/>
              <a:t>"</a:t>
            </a:r>
            <a:r>
              <a:rPr lang="ko-KR" altLang="en-US" sz="1000" b="1" dirty="0"/>
              <a:t>스마트폰</a:t>
            </a:r>
            <a:r>
              <a:rPr lang="en-US" altLang="ko-KR" sz="1000" b="1" dirty="0"/>
              <a:t>", "</a:t>
            </a:r>
            <a:r>
              <a:rPr lang="ko-KR" altLang="en-US" sz="1000" b="1" dirty="0" err="1"/>
              <a:t>스마트워치</a:t>
            </a:r>
            <a:r>
              <a:rPr lang="en-US" altLang="ko-KR" sz="1000" b="1" dirty="0"/>
              <a:t>" </a:t>
            </a:r>
            <a:r>
              <a:rPr lang="ko-KR" altLang="en-US" sz="1000" b="1" dirty="0"/>
              <a:t>등 자동 추천</a:t>
            </a:r>
            <a:endParaRPr lang="en-US" altLang="ko-KR" sz="10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F5537A1-DCB6-92D1-80A4-3DF34757A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720" y="1871563"/>
            <a:ext cx="2264921" cy="367240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CE74261-7FE5-FB10-EB05-68D28ACB6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149" y="3751905"/>
            <a:ext cx="2644627" cy="70381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9E45F14-E324-68E6-85C7-8C181C5BB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07" y="1543782"/>
            <a:ext cx="2654075" cy="58238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6288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817CF-0008-F970-0493-C576FA13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402671F9-85EA-129D-BF84-4E35F38684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Vector Search</a:t>
            </a:r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9F4E376B-C690-C449-2B98-8B5381BFEA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101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1;p14">
            <a:extLst>
              <a:ext uri="{FF2B5EF4-FFF2-40B4-BE49-F238E27FC236}">
                <a16:creationId xmlns:a16="http://schemas.microsoft.com/office/drawing/2014/main" id="{BC5E6D31-1255-E8F4-430C-3649A9A3421D}"/>
              </a:ext>
            </a:extLst>
          </p:cNvPr>
          <p:cNvSpPr txBox="1"/>
          <p:nvPr/>
        </p:nvSpPr>
        <p:spPr>
          <a:xfrm>
            <a:off x="557311" y="1223491"/>
            <a:ext cx="9937104" cy="3724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MongoDB Vector Search </a:t>
            </a:r>
            <a:r>
              <a:rPr lang="ko-KR" altLang="en-US" sz="1000" dirty="0"/>
              <a:t> </a:t>
            </a:r>
            <a:r>
              <a:rPr lang="en-US" altLang="ko-KR" sz="1000" dirty="0"/>
              <a:t>(</a:t>
            </a:r>
            <a:r>
              <a:rPr lang="ko-KR" altLang="en-US" sz="1000" dirty="0"/>
              <a:t>의미 기반 검색</a:t>
            </a:r>
            <a:r>
              <a:rPr lang="en-US" altLang="ko-KR" sz="1000" dirty="0"/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텍스트의 의미를 이해하여 검색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저렴한</a:t>
            </a:r>
            <a:r>
              <a:rPr lang="en-US" altLang="ko-KR" sz="1000" dirty="0"/>
              <a:t>" </a:t>
            </a:r>
            <a:r>
              <a:rPr lang="ko-KR" altLang="en-US" sz="1000" dirty="0"/>
              <a:t>검색 → </a:t>
            </a:r>
            <a:r>
              <a:rPr lang="en-US" altLang="ko-KR" sz="1000" dirty="0"/>
              <a:t>"</a:t>
            </a:r>
            <a:r>
              <a:rPr lang="ko-KR" altLang="en-US" sz="1000" dirty="0"/>
              <a:t>할인</a:t>
            </a:r>
            <a:r>
              <a:rPr lang="en-US" altLang="ko-KR" sz="1000" dirty="0"/>
              <a:t>", "</a:t>
            </a:r>
            <a:r>
              <a:rPr lang="ko-KR" altLang="en-US" sz="1000" dirty="0"/>
              <a:t>특가</a:t>
            </a:r>
            <a:r>
              <a:rPr lang="en-US" altLang="ko-KR" sz="1000" dirty="0"/>
              <a:t>" </a:t>
            </a:r>
            <a:r>
              <a:rPr lang="ko-KR" altLang="en-US" sz="1000" dirty="0"/>
              <a:t>결과 포함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신상품</a:t>
            </a:r>
            <a:r>
              <a:rPr lang="en-US" altLang="ko-KR" sz="1000" dirty="0"/>
              <a:t>" </a:t>
            </a:r>
            <a:r>
              <a:rPr lang="ko-KR" altLang="en-US" sz="1000" dirty="0"/>
              <a:t>검색 → </a:t>
            </a:r>
            <a:r>
              <a:rPr lang="en-US" altLang="ko-KR" sz="1000" dirty="0"/>
              <a:t>"</a:t>
            </a:r>
            <a:r>
              <a:rPr lang="ko-KR" altLang="en-US" sz="1000" dirty="0"/>
              <a:t>신제품</a:t>
            </a:r>
            <a:r>
              <a:rPr lang="en-US" altLang="ko-KR" sz="1000" dirty="0"/>
              <a:t>", "</a:t>
            </a:r>
            <a:r>
              <a:rPr lang="ko-KR" altLang="en-US" sz="1000" dirty="0"/>
              <a:t>런칭</a:t>
            </a:r>
            <a:r>
              <a:rPr lang="en-US" altLang="ko-KR" sz="1000" dirty="0"/>
              <a:t>" </a:t>
            </a:r>
            <a:r>
              <a:rPr lang="ko-KR" altLang="en-US" sz="1000" dirty="0"/>
              <a:t>결과 포함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핵심 용어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Embedding: </a:t>
            </a:r>
            <a:r>
              <a:rPr lang="ko-KR" altLang="en-US" sz="1000" dirty="0"/>
              <a:t>텍스트를 숫자 배열로 변환 </a:t>
            </a:r>
            <a:r>
              <a:rPr lang="en-US" altLang="ko-KR" sz="1000" dirty="0"/>
              <a:t>(</a:t>
            </a:r>
            <a:r>
              <a:rPr lang="ko-KR" altLang="en-US" sz="1000" dirty="0"/>
              <a:t>예</a:t>
            </a:r>
            <a:r>
              <a:rPr lang="en-US" altLang="ko-KR" sz="1000" dirty="0"/>
              <a:t>: "</a:t>
            </a:r>
            <a:r>
              <a:rPr lang="ko-KR" altLang="en-US" sz="1000" dirty="0"/>
              <a:t>스마트폰</a:t>
            </a:r>
            <a:r>
              <a:rPr lang="en-US" altLang="ko-KR" sz="1000" dirty="0"/>
              <a:t>" → [0.1, 0.3, -0.2, ...])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Vector: Embedding</a:t>
            </a:r>
            <a:r>
              <a:rPr lang="ko-KR" altLang="en-US" sz="1000" dirty="0"/>
              <a:t>의 다른 이름</a:t>
            </a:r>
            <a:endParaRPr lang="en-US" altLang="ko-KR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Embedding (</a:t>
            </a:r>
            <a:r>
              <a:rPr lang="ko-KR" altLang="en-US" sz="1000" dirty="0" err="1"/>
              <a:t>임베딩</a:t>
            </a:r>
            <a:r>
              <a:rPr lang="en-US" altLang="ko-KR" sz="1000" dirty="0"/>
              <a:t>)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텍스트</a:t>
            </a:r>
            <a:r>
              <a:rPr lang="en-US" altLang="ko-KR" sz="1000" dirty="0"/>
              <a:t>, </a:t>
            </a:r>
            <a:r>
              <a:rPr lang="ko-KR" altLang="en-US" sz="1000" dirty="0"/>
              <a:t>이미지 등을 숫자 </a:t>
            </a:r>
            <a:r>
              <a:rPr lang="en-US" altLang="ko-KR" sz="1000" dirty="0"/>
              <a:t>Vector</a:t>
            </a:r>
            <a:r>
              <a:rPr lang="ko-KR" altLang="en-US" sz="1000" dirty="0"/>
              <a:t>로 변환하는 과정 또는 그 결과물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단어를 </a:t>
            </a:r>
            <a:r>
              <a:rPr lang="ko-KR" altLang="en-US" sz="1000" dirty="0" err="1"/>
              <a:t>임베딩한다</a:t>
            </a:r>
            <a:r>
              <a:rPr lang="en-US" altLang="ko-KR" sz="1000" dirty="0"/>
              <a:t>" = "</a:t>
            </a:r>
            <a:r>
              <a:rPr lang="ko-KR" altLang="en-US" sz="1000" dirty="0"/>
              <a:t>단어를 </a:t>
            </a:r>
            <a:r>
              <a:rPr lang="en-US" altLang="ko-KR" sz="1000" dirty="0"/>
              <a:t>Vector</a:t>
            </a:r>
            <a:r>
              <a:rPr lang="ko-KR" altLang="en-US" sz="1000" dirty="0"/>
              <a:t>로 변환한다</a:t>
            </a:r>
            <a:r>
              <a:rPr lang="en-US" altLang="ko-KR" sz="1000" dirty="0"/>
              <a:t>"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예</a:t>
            </a:r>
            <a:r>
              <a:rPr lang="en-US" altLang="ko-KR" sz="1000" dirty="0"/>
              <a:t>: [0.23, -0.45, 0.67, ...] ← </a:t>
            </a:r>
            <a:r>
              <a:rPr lang="ko-KR" altLang="en-US" sz="1000" dirty="0" err="1"/>
              <a:t>임베딩</a:t>
            </a:r>
            <a:r>
              <a:rPr lang="ko-KR" altLang="en-US" sz="1000" dirty="0"/>
              <a:t> </a:t>
            </a:r>
            <a:r>
              <a:rPr lang="en-US" altLang="ko-KR" sz="1000" dirty="0"/>
              <a:t>Vector</a:t>
            </a:r>
            <a:endParaRPr lang="ko-KR" altLang="en-US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Vector (Vector)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숫자 배열 자체를 의미하는 수학 용어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ko-KR" altLang="en-US" sz="1000" dirty="0" err="1"/>
              <a:t>임베딩의</a:t>
            </a:r>
            <a:r>
              <a:rPr lang="ko-KR" altLang="en-US" sz="1000" dirty="0"/>
              <a:t> 결과물이 </a:t>
            </a:r>
            <a:r>
              <a:rPr lang="en-US" altLang="ko-KR" sz="1000" dirty="0"/>
              <a:t>Vector</a:t>
            </a:r>
            <a:r>
              <a:rPr lang="ko-KR" altLang="en-US" sz="1000" dirty="0"/>
              <a:t> 형태</a:t>
            </a:r>
            <a:endParaRPr lang="en-US" altLang="ko-KR" sz="1000" dirty="0"/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ko-KR" altLang="en-US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Dimension: </a:t>
            </a:r>
            <a:r>
              <a:rPr lang="ko-KR" altLang="en-US" sz="1000" dirty="0"/>
              <a:t>배열의 크기 </a:t>
            </a:r>
            <a:r>
              <a:rPr lang="en-US" altLang="ko-KR" sz="1000" dirty="0"/>
              <a:t>(</a:t>
            </a:r>
            <a:r>
              <a:rPr lang="ko-KR" altLang="en-US" sz="1000" dirty="0"/>
              <a:t>예</a:t>
            </a:r>
            <a:r>
              <a:rPr lang="en-US" altLang="ko-KR" sz="1000" dirty="0"/>
              <a:t>: 1536</a:t>
            </a:r>
            <a:r>
              <a:rPr lang="ko-KR" altLang="en-US" sz="1000" dirty="0"/>
              <a:t>차원</a:t>
            </a:r>
            <a:r>
              <a:rPr lang="en-US" altLang="ko-KR" sz="1000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Vector Search</a:t>
            </a:r>
            <a:r>
              <a:rPr lang="ko-KR" altLang="en-US" sz="1000" dirty="0"/>
              <a:t>의 핵심</a:t>
            </a:r>
            <a:r>
              <a:rPr lang="en-US" altLang="ko-KR" sz="1000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단어의 의미를 숫자 </a:t>
            </a:r>
            <a:r>
              <a:rPr lang="en-US" altLang="ko-KR" sz="1000" dirty="0"/>
              <a:t>Vector</a:t>
            </a:r>
            <a:r>
              <a:rPr lang="ko-KR" altLang="en-US" sz="1000" dirty="0"/>
              <a:t>로 변환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비슷한 </a:t>
            </a:r>
            <a:r>
              <a:rPr lang="ko-KR" altLang="en-US" sz="1000" b="1" dirty="0"/>
              <a:t>의미</a:t>
            </a:r>
            <a:r>
              <a:rPr lang="ko-KR" altLang="en-US" sz="1000" dirty="0"/>
              <a:t> → 비슷한 </a:t>
            </a:r>
            <a:r>
              <a:rPr lang="en-US" altLang="ko-KR" sz="1000" b="1" dirty="0"/>
              <a:t>Vector</a:t>
            </a:r>
            <a:endParaRPr lang="ko-KR" altLang="en-US" sz="1000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휴대전화</a:t>
            </a:r>
            <a:r>
              <a:rPr lang="en-US" altLang="ko-KR" sz="1000" dirty="0"/>
              <a:t>"</a:t>
            </a:r>
            <a:r>
              <a:rPr lang="ko-KR" altLang="en-US" sz="1000" dirty="0"/>
              <a:t>와 </a:t>
            </a:r>
            <a:r>
              <a:rPr lang="en-US" altLang="ko-KR" sz="1000" dirty="0"/>
              <a:t>"</a:t>
            </a:r>
            <a:r>
              <a:rPr lang="ko-KR" altLang="en-US" sz="1000" dirty="0"/>
              <a:t>스마트폰</a:t>
            </a:r>
            <a:r>
              <a:rPr lang="en-US" altLang="ko-KR" sz="1000" dirty="0"/>
              <a:t>"</a:t>
            </a:r>
            <a:r>
              <a:rPr lang="ko-KR" altLang="en-US" sz="1000" dirty="0"/>
              <a:t>은 다른 단어지만 의미가 비슷하므로 </a:t>
            </a:r>
            <a:r>
              <a:rPr lang="en-US" altLang="ko-KR" sz="1000" dirty="0"/>
              <a:t>Vector</a:t>
            </a:r>
            <a:r>
              <a:rPr lang="ko-KR" altLang="en-US" sz="1000" dirty="0"/>
              <a:t>도 </a:t>
            </a:r>
            <a:r>
              <a:rPr lang="ko-KR" altLang="en-US" sz="1000" dirty="0" err="1"/>
              <a:t>비슷</a:t>
            </a:r>
            <a:endParaRPr lang="en-US" altLang="ko-KR" sz="10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D5216ED-B63E-AE44-C803-E9532B2DA787}"/>
              </a:ext>
            </a:extLst>
          </p:cNvPr>
          <p:cNvSpPr txBox="1">
            <a:spLocks/>
          </p:cNvSpPr>
          <p:nvPr/>
        </p:nvSpPr>
        <p:spPr>
          <a:xfrm>
            <a:off x="264083" y="768485"/>
            <a:ext cx="7710053" cy="2488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lnSpc>
                <a:spcPct val="125000"/>
              </a:lnSpc>
              <a:spcBef>
                <a:spcPct val="50000"/>
              </a:spcBef>
              <a:buNone/>
              <a:defRPr kumimoji="1" lang="ko-KR" altLang="en-US" sz="1000" kern="1200" spc="-49" baseline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defRPr>
            </a:lvl1pPr>
          </a:lstStyle>
          <a:p>
            <a:r>
              <a:rPr 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Vector Search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개념 이해</a:t>
            </a:r>
            <a:endParaRPr 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E8EDAF5-097C-2C96-570C-C93779B83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939" y="5030115"/>
            <a:ext cx="5237833" cy="103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41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7A779-902A-3C5E-96A7-87273F027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1;p14">
            <a:extLst>
              <a:ext uri="{FF2B5EF4-FFF2-40B4-BE49-F238E27FC236}">
                <a16:creationId xmlns:a16="http://schemas.microsoft.com/office/drawing/2014/main" id="{21458B6F-3BEC-1A4E-F24B-9413FFF5794A}"/>
              </a:ext>
            </a:extLst>
          </p:cNvPr>
          <p:cNvSpPr txBox="1"/>
          <p:nvPr/>
        </p:nvSpPr>
        <p:spPr>
          <a:xfrm>
            <a:off x="557311" y="1128276"/>
            <a:ext cx="4896545" cy="58785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전통적인 검색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키워드 매칭</a:t>
            </a:r>
            <a:r>
              <a:rPr lang="en-US" altLang="ko-KR" sz="1000" b="1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데이터베이스</a:t>
            </a:r>
            <a:endParaRPr lang="en-US" altLang="ko-KR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스마트폰 할인</a:t>
            </a:r>
            <a:endParaRPr lang="en-US" altLang="ko-KR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노트북 세일</a:t>
            </a:r>
            <a:endParaRPr lang="en-US" altLang="ko-KR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태블릿 특가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검색어</a:t>
            </a:r>
            <a:r>
              <a:rPr lang="en-US" altLang="ko-KR" sz="1000" dirty="0"/>
              <a:t>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휴대전화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결과</a:t>
            </a:r>
            <a:r>
              <a:rPr lang="en-US" altLang="ko-KR" sz="1000" dirty="0"/>
              <a:t>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없음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이유</a:t>
            </a:r>
            <a:r>
              <a:rPr lang="en-US" altLang="ko-KR" sz="1000" dirty="0"/>
              <a:t>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휴대전화라는 단어가 데이터에 없음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문제점</a:t>
            </a:r>
            <a:r>
              <a:rPr lang="en-US" altLang="ko-KR" sz="1000" dirty="0"/>
              <a:t>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같은 의미의 다른 단어를 못 찾음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스마트폰</a:t>
            </a:r>
            <a:r>
              <a:rPr lang="en-US" altLang="ko-KR" sz="1000" dirty="0"/>
              <a:t>" = "</a:t>
            </a:r>
            <a:r>
              <a:rPr lang="ko-KR" altLang="en-US" sz="1000" dirty="0"/>
              <a:t>휴대전화</a:t>
            </a:r>
            <a:r>
              <a:rPr lang="en-US" altLang="ko-KR" sz="1000" dirty="0"/>
              <a:t>" = "</a:t>
            </a:r>
            <a:r>
              <a:rPr lang="ko-KR" altLang="en-US" sz="1000" dirty="0"/>
              <a:t>핸드폰</a:t>
            </a:r>
            <a:r>
              <a:rPr lang="en-US" altLang="ko-KR" sz="1000" dirty="0"/>
              <a:t>"</a:t>
            </a:r>
            <a:r>
              <a:rPr lang="ko-KR" altLang="en-US" sz="1000" dirty="0"/>
              <a:t>을 이해 못함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의미 기반 검색 </a:t>
            </a:r>
            <a:r>
              <a:rPr lang="en-US" altLang="ko-KR" sz="1000" b="1" dirty="0"/>
              <a:t>(Vector Search)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데이터베이스를 숫자 </a:t>
            </a:r>
            <a:r>
              <a:rPr lang="en-US" altLang="ko-KR" sz="1000" dirty="0"/>
              <a:t>Vector</a:t>
            </a:r>
            <a:r>
              <a:rPr lang="ko-KR" altLang="en-US" sz="1000" dirty="0"/>
              <a:t>로 저장</a:t>
            </a:r>
            <a:endParaRPr lang="en-US" altLang="ko-KR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스마트폰 할인</a:t>
            </a:r>
            <a:r>
              <a:rPr lang="en-US" altLang="ko-KR" sz="1000" dirty="0"/>
              <a:t> → [0.23, -0.45, 0.67, ...]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노트북 세일</a:t>
            </a:r>
            <a:r>
              <a:rPr lang="en-US" altLang="ko-KR" sz="1000" dirty="0"/>
              <a:t> → [-0.87, 0.34, -0.12, ...]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검색어도</a:t>
            </a:r>
            <a:r>
              <a:rPr lang="en-US" altLang="ko-KR" sz="1000" dirty="0"/>
              <a:t> </a:t>
            </a:r>
            <a:r>
              <a:rPr lang="ko-KR" altLang="en-US" sz="1000" dirty="0"/>
              <a:t>숫자 </a:t>
            </a:r>
            <a:r>
              <a:rPr lang="en-US" altLang="ko-KR" sz="1000" dirty="0"/>
              <a:t>Vector</a:t>
            </a:r>
            <a:r>
              <a:rPr lang="ko-KR" altLang="en-US" sz="1000" dirty="0"/>
              <a:t>로 변환</a:t>
            </a:r>
            <a:endParaRPr lang="en-US" altLang="ko-KR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휴대전화</a:t>
            </a:r>
            <a:r>
              <a:rPr lang="en-US" altLang="ko-KR" sz="1000" dirty="0"/>
              <a:t> → [0.24, -0.44, 0.66, ...]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결과</a:t>
            </a:r>
            <a:r>
              <a:rPr lang="en-US" altLang="ko-KR" sz="1000" dirty="0"/>
              <a:t>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스마트폰 할인</a:t>
            </a:r>
            <a:r>
              <a:rPr lang="en-US" altLang="ko-KR" sz="1000" dirty="0"/>
              <a:t> </a:t>
            </a:r>
            <a:r>
              <a:rPr lang="ko-KR" altLang="en-US" sz="1000" dirty="0"/>
              <a:t>찾음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이유</a:t>
            </a:r>
            <a:r>
              <a:rPr lang="en-US" altLang="ko-KR" sz="1000" dirty="0"/>
              <a:t>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Vector</a:t>
            </a:r>
            <a:r>
              <a:rPr lang="ko-KR" altLang="en-US" sz="1000" dirty="0"/>
              <a:t>가 비슷함 </a:t>
            </a:r>
            <a:r>
              <a:rPr lang="en-US" altLang="ko-KR" sz="1000" dirty="0"/>
              <a:t>(</a:t>
            </a:r>
            <a:r>
              <a:rPr lang="ko-KR" altLang="en-US" sz="1000" dirty="0"/>
              <a:t>의미가 유사</a:t>
            </a:r>
            <a:r>
              <a:rPr lang="en-US" altLang="ko-KR" sz="1000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같은 의미의 다른 단어도 찾음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저렴한</a:t>
            </a:r>
            <a:r>
              <a:rPr lang="en-US" altLang="ko-KR" sz="1000" dirty="0"/>
              <a:t>" → "</a:t>
            </a:r>
            <a:r>
              <a:rPr lang="ko-KR" altLang="en-US" sz="1000" dirty="0"/>
              <a:t>할인</a:t>
            </a:r>
            <a:r>
              <a:rPr lang="en-US" altLang="ko-KR" sz="1000" dirty="0"/>
              <a:t>", "</a:t>
            </a:r>
            <a:r>
              <a:rPr lang="ko-KR" altLang="en-US" sz="1000" dirty="0"/>
              <a:t>세일</a:t>
            </a:r>
            <a:r>
              <a:rPr lang="en-US" altLang="ko-KR" sz="1000" dirty="0"/>
              <a:t>", "</a:t>
            </a:r>
            <a:r>
              <a:rPr lang="ko-KR" altLang="en-US" sz="1000" dirty="0"/>
              <a:t>특가</a:t>
            </a:r>
            <a:r>
              <a:rPr lang="en-US" altLang="ko-KR" sz="1000" dirty="0"/>
              <a:t>" </a:t>
            </a:r>
            <a:r>
              <a:rPr lang="ko-KR" altLang="en-US" sz="1000" dirty="0"/>
              <a:t>모두 검색</a:t>
            </a:r>
            <a:endParaRPr lang="en-US" altLang="ko-KR" sz="1000" dirty="0"/>
          </a:p>
          <a:p>
            <a:pPr lvl="1"/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/>
              <a:t>AI </a:t>
            </a:r>
            <a:r>
              <a:rPr lang="ko-KR" altLang="en-US" sz="1000" b="1" dirty="0"/>
              <a:t>엔진의 역할</a:t>
            </a:r>
            <a:endParaRPr lang="en-US" altLang="ko-KR" sz="1000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AI </a:t>
            </a:r>
            <a:r>
              <a:rPr lang="ko-KR" altLang="en-US" sz="1000" dirty="0"/>
              <a:t>엔진 </a:t>
            </a:r>
            <a:r>
              <a:rPr lang="en-US" altLang="ko-KR" sz="1000" dirty="0"/>
              <a:t>(OpenAI </a:t>
            </a:r>
            <a:r>
              <a:rPr lang="ko-KR" altLang="en-US" sz="1000" dirty="0"/>
              <a:t>등</a:t>
            </a:r>
            <a:r>
              <a:rPr lang="en-US" altLang="ko-KR" sz="1000" dirty="0"/>
              <a:t>)</a:t>
            </a:r>
            <a:r>
              <a:rPr lang="ko-KR" altLang="en-US" sz="1000" dirty="0"/>
              <a:t>이 텍스트를 숫자 </a:t>
            </a:r>
            <a:r>
              <a:rPr lang="en-US" altLang="ko-KR" sz="1000" dirty="0"/>
              <a:t>Vector</a:t>
            </a:r>
            <a:r>
              <a:rPr lang="ko-KR" altLang="en-US" sz="1000" dirty="0"/>
              <a:t>로 변환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스마트폰</a:t>
            </a:r>
            <a:r>
              <a:rPr lang="en-US" altLang="ko-KR" sz="1000" dirty="0"/>
              <a:t> → [0.23, -0.45, 0.67, ...]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휴대전화</a:t>
            </a:r>
            <a:r>
              <a:rPr lang="en-US" altLang="ko-KR" sz="1000" dirty="0"/>
              <a:t> → [0.24, -0.44, 0.66, ...] (</a:t>
            </a:r>
            <a:r>
              <a:rPr lang="ko-KR" altLang="en-US" sz="1000" dirty="0" err="1"/>
              <a:t>비슷</a:t>
            </a:r>
            <a:r>
              <a:rPr lang="en-US" altLang="ko-KR" sz="1000" dirty="0"/>
              <a:t>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자동차</a:t>
            </a:r>
            <a:r>
              <a:rPr lang="en-US" altLang="ko-KR" sz="1000" dirty="0"/>
              <a:t> → [-0.87, 0.34, -0.12, ...] (</a:t>
            </a:r>
            <a:r>
              <a:rPr lang="ko-KR" altLang="en-US" sz="1000" dirty="0"/>
              <a:t>다름</a:t>
            </a:r>
            <a:r>
              <a:rPr lang="en-US" altLang="ko-KR" sz="10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/>
              <a:t>AI </a:t>
            </a:r>
            <a:r>
              <a:rPr lang="ko-KR" altLang="en-US" sz="1000" b="1" dirty="0"/>
              <a:t>모델은 수십억 개의 문장으로 학습됨</a:t>
            </a:r>
            <a:endParaRPr lang="en-US" altLang="ko-KR" sz="1000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스마트폰과 휴대전화가 같은 의미인 것을 학습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이 지식을 숫자 </a:t>
            </a:r>
            <a:r>
              <a:rPr lang="en-US" altLang="ko-KR" sz="1000" dirty="0"/>
              <a:t>Vector</a:t>
            </a:r>
            <a:r>
              <a:rPr lang="ko-KR" altLang="en-US" sz="1000" dirty="0"/>
              <a:t>로 표현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177FBB5-C4F3-4A32-B139-2DC8DAC57AB5}"/>
              </a:ext>
            </a:extLst>
          </p:cNvPr>
          <p:cNvSpPr txBox="1">
            <a:spLocks/>
          </p:cNvSpPr>
          <p:nvPr/>
        </p:nvSpPr>
        <p:spPr>
          <a:xfrm>
            <a:off x="264083" y="768485"/>
            <a:ext cx="7710053" cy="2488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lnSpc>
                <a:spcPct val="125000"/>
              </a:lnSpc>
              <a:spcBef>
                <a:spcPct val="50000"/>
              </a:spcBef>
              <a:buNone/>
              <a:defRPr kumimoji="1" lang="ko-KR" altLang="en-US" sz="1000" kern="1200" spc="-49" baseline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defRPr>
            </a:lvl1pPr>
          </a:lstStyle>
          <a:p>
            <a:r>
              <a:rPr 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Vector Search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개념 이해</a:t>
            </a:r>
            <a:endParaRPr 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E5B742DB-EA6B-AC74-3111-226F635AD59E}"/>
              </a:ext>
            </a:extLst>
          </p:cNvPr>
          <p:cNvSpPr txBox="1"/>
          <p:nvPr/>
        </p:nvSpPr>
        <p:spPr>
          <a:xfrm>
            <a:off x="5597872" y="1127632"/>
            <a:ext cx="4896545" cy="3385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171450" indent="-171450" algn="ctr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데이터베이스의 텍스트를 </a:t>
            </a:r>
            <a:r>
              <a:rPr lang="en-US" altLang="ko-KR" dirty="0"/>
              <a:t>Vector </a:t>
            </a:r>
            <a:r>
              <a:rPr lang="ko-KR" altLang="en-US" dirty="0"/>
              <a:t>변환</a:t>
            </a:r>
            <a:endParaRPr lang="en-US" altLang="ko-KR" dirty="0"/>
          </a:p>
        </p:txBody>
      </p:sp>
      <p:sp>
        <p:nvSpPr>
          <p:cNvPr id="3" name="Google Shape;111;p14">
            <a:extLst>
              <a:ext uri="{FF2B5EF4-FFF2-40B4-BE49-F238E27FC236}">
                <a16:creationId xmlns:a16="http://schemas.microsoft.com/office/drawing/2014/main" id="{60D07B0D-35C3-AF0B-04F6-724FF105C217}"/>
              </a:ext>
            </a:extLst>
          </p:cNvPr>
          <p:cNvSpPr txBox="1"/>
          <p:nvPr/>
        </p:nvSpPr>
        <p:spPr>
          <a:xfrm>
            <a:off x="5597872" y="1583531"/>
            <a:ext cx="2304256" cy="646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1. </a:t>
            </a:r>
            <a:r>
              <a:rPr lang="ko-KR" altLang="en-US" sz="1000" dirty="0"/>
              <a:t>광고 데이터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신제품 스마트폰 프로모션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최신 스마트폰 </a:t>
            </a:r>
            <a:r>
              <a:rPr lang="en-US" altLang="ko-KR" sz="1000" dirty="0"/>
              <a:t>20% </a:t>
            </a:r>
            <a:r>
              <a:rPr lang="ko-KR" altLang="en-US" sz="1000" dirty="0"/>
              <a:t>할인</a:t>
            </a:r>
            <a:endParaRPr lang="en-US" altLang="ko-KR" sz="1000" dirty="0"/>
          </a:p>
        </p:txBody>
      </p:sp>
      <p:sp>
        <p:nvSpPr>
          <p:cNvPr id="4" name="Google Shape;111;p14">
            <a:extLst>
              <a:ext uri="{FF2B5EF4-FFF2-40B4-BE49-F238E27FC236}">
                <a16:creationId xmlns:a16="http://schemas.microsoft.com/office/drawing/2014/main" id="{33CCD3C7-FBD2-ED4C-6F02-FDE41D38C7B8}"/>
              </a:ext>
            </a:extLst>
          </p:cNvPr>
          <p:cNvSpPr txBox="1"/>
          <p:nvPr/>
        </p:nvSpPr>
        <p:spPr>
          <a:xfrm>
            <a:off x="8294934" y="1595175"/>
            <a:ext cx="2199482" cy="477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2. AI </a:t>
            </a:r>
            <a:r>
              <a:rPr lang="ko-KR" altLang="en-US" sz="1000" dirty="0"/>
              <a:t>엔진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텍스트 → </a:t>
            </a:r>
            <a:r>
              <a:rPr lang="en-US" altLang="ko-KR" sz="900" dirty="0"/>
              <a:t>Vector</a:t>
            </a:r>
            <a:r>
              <a:rPr lang="ko-KR" altLang="en-US" sz="900" dirty="0"/>
              <a:t> 변환 수행</a:t>
            </a:r>
            <a:endParaRPr lang="en-US" altLang="ko-KR" sz="900" dirty="0"/>
          </a:p>
        </p:txBody>
      </p:sp>
      <p:sp>
        <p:nvSpPr>
          <p:cNvPr id="5" name="Google Shape;111;p14">
            <a:extLst>
              <a:ext uri="{FF2B5EF4-FFF2-40B4-BE49-F238E27FC236}">
                <a16:creationId xmlns:a16="http://schemas.microsoft.com/office/drawing/2014/main" id="{EA2350EE-BFEC-2A37-A451-C9F7AA7DA746}"/>
              </a:ext>
            </a:extLst>
          </p:cNvPr>
          <p:cNvSpPr txBox="1"/>
          <p:nvPr/>
        </p:nvSpPr>
        <p:spPr>
          <a:xfrm>
            <a:off x="5597872" y="2541151"/>
            <a:ext cx="4896545" cy="3385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171450" indent="-171450" algn="ctr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US" altLang="ko-KR"/>
              <a:t>2</a:t>
            </a:r>
            <a:r>
              <a:rPr lang="ko-KR" altLang="en-US"/>
              <a:t>단계</a:t>
            </a:r>
            <a:r>
              <a:rPr lang="en-US" altLang="ko-KR" dirty="0"/>
              <a:t>: </a:t>
            </a:r>
            <a:r>
              <a:rPr lang="en-US" altLang="ko-KR"/>
              <a:t>MongoDB </a:t>
            </a:r>
            <a:r>
              <a:rPr lang="ko-KR" altLang="en-US"/>
              <a:t>저장</a:t>
            </a:r>
            <a:endParaRPr lang="en-US" altLang="ko-KR" dirty="0"/>
          </a:p>
        </p:txBody>
      </p:sp>
      <p:sp>
        <p:nvSpPr>
          <p:cNvPr id="7" name="Google Shape;111;p14">
            <a:extLst>
              <a:ext uri="{FF2B5EF4-FFF2-40B4-BE49-F238E27FC236}">
                <a16:creationId xmlns:a16="http://schemas.microsoft.com/office/drawing/2014/main" id="{C35725A6-7F56-343F-B57B-33C053ACD311}"/>
              </a:ext>
            </a:extLst>
          </p:cNvPr>
          <p:cNvSpPr txBox="1"/>
          <p:nvPr/>
        </p:nvSpPr>
        <p:spPr>
          <a:xfrm>
            <a:off x="5597871" y="2956920"/>
            <a:ext cx="4896545" cy="18774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3. MongoDB </a:t>
            </a:r>
            <a:r>
              <a:rPr lang="ko-KR" altLang="en-US" sz="1000" dirty="0"/>
              <a:t>컬렉션 </a:t>
            </a:r>
            <a:r>
              <a:rPr lang="en-US" altLang="ko-KR" sz="1000" dirty="0"/>
              <a:t>"ads":</a:t>
            </a:r>
          </a:p>
          <a:p>
            <a:r>
              <a:rPr lang="ko-KR" altLang="en-US" sz="1000" dirty="0"/>
              <a:t> </a:t>
            </a:r>
            <a:r>
              <a:rPr lang="en-US" altLang="ko-KR" sz="1000" dirty="0"/>
              <a:t>{                                                      </a:t>
            </a:r>
          </a:p>
          <a:p>
            <a:r>
              <a:rPr lang="en-US" altLang="ko-KR" sz="1000" dirty="0"/>
              <a:t>   "</a:t>
            </a:r>
            <a:r>
              <a:rPr lang="en-US" altLang="ko-KR" sz="1000" dirty="0" err="1"/>
              <a:t>ad_name</a:t>
            </a:r>
            <a:r>
              <a:rPr lang="en-US" altLang="ko-KR" sz="1000" dirty="0"/>
              <a:t>": "</a:t>
            </a:r>
            <a:r>
              <a:rPr lang="ko-KR" altLang="en-US" sz="1000" dirty="0"/>
              <a:t>신제품 스마트폰 프로모션</a:t>
            </a:r>
            <a:r>
              <a:rPr lang="en-US" altLang="ko-KR" sz="1000" dirty="0"/>
              <a:t>",                </a:t>
            </a:r>
          </a:p>
          <a:p>
            <a:r>
              <a:rPr lang="en-US" altLang="ko-KR" sz="1000" dirty="0"/>
              <a:t>   "creative": {                                        </a:t>
            </a:r>
          </a:p>
          <a:p>
            <a:r>
              <a:rPr lang="en-US" altLang="ko-KR" sz="1000" dirty="0"/>
              <a:t>     "headline": "</a:t>
            </a:r>
            <a:r>
              <a:rPr lang="ko-KR" altLang="en-US" sz="1000" dirty="0"/>
              <a:t>최신 스마트폰 </a:t>
            </a:r>
            <a:r>
              <a:rPr lang="en-US" altLang="ko-KR" sz="1000" dirty="0"/>
              <a:t>20% </a:t>
            </a:r>
            <a:r>
              <a:rPr lang="ko-KR" altLang="en-US" sz="1000" dirty="0"/>
              <a:t>할인</a:t>
            </a:r>
            <a:r>
              <a:rPr lang="en-US" altLang="ko-KR" sz="1000" dirty="0"/>
              <a:t>"                </a:t>
            </a:r>
          </a:p>
          <a:p>
            <a:r>
              <a:rPr lang="en-US" altLang="ko-KR" sz="1000" dirty="0"/>
              <a:t>   },                                                   </a:t>
            </a:r>
          </a:p>
          <a:p>
            <a:r>
              <a:rPr lang="en-US" altLang="ko-KR" sz="1000" dirty="0"/>
              <a:t>   </a:t>
            </a:r>
            <a:r>
              <a:rPr lang="en-US" altLang="ko-KR" sz="1000" b="1" dirty="0"/>
              <a:t>"embedding": [0.23, -0.45, 0.67, ...] </a:t>
            </a:r>
            <a:r>
              <a:rPr lang="en-US" altLang="ko-KR" sz="1000" dirty="0"/>
              <a:t>◄─ 1536</a:t>
            </a:r>
            <a:r>
              <a:rPr lang="ko-KR" altLang="en-US" sz="1000" dirty="0"/>
              <a:t>개 숫자</a:t>
            </a:r>
          </a:p>
          <a:p>
            <a:r>
              <a:rPr lang="ko-KR" altLang="en-US" sz="1000" dirty="0"/>
              <a:t> </a:t>
            </a:r>
            <a:r>
              <a:rPr lang="en-US" altLang="ko-KR" sz="1000" dirty="0"/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MongoDB</a:t>
            </a:r>
            <a:r>
              <a:rPr lang="ko-KR" altLang="en-US" sz="1000" dirty="0"/>
              <a:t>가 자동으로 </a:t>
            </a:r>
            <a:r>
              <a:rPr lang="en-US" altLang="ko-KR" sz="1000" dirty="0"/>
              <a:t>"Vector</a:t>
            </a:r>
            <a:r>
              <a:rPr lang="ko-KR" altLang="en-US" sz="1000" dirty="0"/>
              <a:t> 인덱스</a:t>
            </a:r>
            <a:r>
              <a:rPr lang="en-US" altLang="ko-KR" sz="1000" dirty="0"/>
              <a:t>" </a:t>
            </a:r>
            <a:r>
              <a:rPr lang="ko-KR" altLang="en-US" sz="1000" dirty="0"/>
              <a:t>생성 → 빠른 유사도 검색 가능</a:t>
            </a:r>
            <a:endParaRPr lang="en-US" altLang="ko-KR" sz="1000" dirty="0"/>
          </a:p>
        </p:txBody>
      </p:sp>
      <p:sp>
        <p:nvSpPr>
          <p:cNvPr id="9" name="Google Shape;111;p14">
            <a:extLst>
              <a:ext uri="{FF2B5EF4-FFF2-40B4-BE49-F238E27FC236}">
                <a16:creationId xmlns:a16="http://schemas.microsoft.com/office/drawing/2014/main" id="{EA7DA019-C803-0408-4F34-FB9FAC72BE79}"/>
              </a:ext>
            </a:extLst>
          </p:cNvPr>
          <p:cNvSpPr txBox="1"/>
          <p:nvPr/>
        </p:nvSpPr>
        <p:spPr>
          <a:xfrm>
            <a:off x="5597871" y="5061431"/>
            <a:ext cx="4896545" cy="3385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 sz="1000" dirty="0"/>
              <a:t>3</a:t>
            </a:r>
            <a:r>
              <a:rPr lang="ko-KR" altLang="en-US" sz="1000" dirty="0"/>
              <a:t>단계</a:t>
            </a:r>
            <a:r>
              <a:rPr lang="en-US" altLang="ko-KR" sz="1000" dirty="0"/>
              <a:t>: </a:t>
            </a:r>
            <a:r>
              <a:rPr lang="ko-KR" altLang="en-US" sz="1000" dirty="0"/>
              <a:t>검색 실행</a:t>
            </a:r>
            <a:endParaRPr lang="en-US" altLang="ko-KR" sz="1000" dirty="0"/>
          </a:p>
        </p:txBody>
      </p:sp>
      <p:sp>
        <p:nvSpPr>
          <p:cNvPr id="11" name="Google Shape;111;p14">
            <a:extLst>
              <a:ext uri="{FF2B5EF4-FFF2-40B4-BE49-F238E27FC236}">
                <a16:creationId xmlns:a16="http://schemas.microsoft.com/office/drawing/2014/main" id="{0151671E-D8EB-14B3-330F-FA99B0C70FB3}"/>
              </a:ext>
            </a:extLst>
          </p:cNvPr>
          <p:cNvSpPr txBox="1"/>
          <p:nvPr/>
        </p:nvSpPr>
        <p:spPr>
          <a:xfrm>
            <a:off x="5597872" y="5473735"/>
            <a:ext cx="2304256" cy="4924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4. </a:t>
            </a:r>
            <a:r>
              <a:rPr lang="ko-KR" altLang="en-US" sz="1000" dirty="0"/>
              <a:t>사용자 검색어 입력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“</a:t>
            </a:r>
            <a:r>
              <a:rPr lang="ko-KR" altLang="en-US" sz="1000" dirty="0"/>
              <a:t>휴대전화</a:t>
            </a:r>
            <a:r>
              <a:rPr lang="en-US" altLang="ko-KR" sz="1000" dirty="0"/>
              <a:t>” </a:t>
            </a:r>
            <a:r>
              <a:rPr lang="ko-KR" altLang="en-US" sz="1000" dirty="0"/>
              <a:t>입력</a:t>
            </a:r>
            <a:endParaRPr lang="en-US" altLang="ko-KR" sz="1000" dirty="0"/>
          </a:p>
        </p:txBody>
      </p:sp>
      <p:sp>
        <p:nvSpPr>
          <p:cNvPr id="14" name="Google Shape;111;p14">
            <a:extLst>
              <a:ext uri="{FF2B5EF4-FFF2-40B4-BE49-F238E27FC236}">
                <a16:creationId xmlns:a16="http://schemas.microsoft.com/office/drawing/2014/main" id="{3B3D8E1C-F662-5261-BA08-2EA970E391A3}"/>
              </a:ext>
            </a:extLst>
          </p:cNvPr>
          <p:cNvSpPr txBox="1"/>
          <p:nvPr/>
        </p:nvSpPr>
        <p:spPr>
          <a:xfrm>
            <a:off x="8294934" y="5483607"/>
            <a:ext cx="2199482" cy="477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5. AI </a:t>
            </a:r>
            <a:r>
              <a:rPr lang="ko-KR" altLang="en-US" sz="1000" dirty="0"/>
              <a:t>엔진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900" dirty="0"/>
              <a:t>텍스트 → </a:t>
            </a:r>
            <a:r>
              <a:rPr lang="en-US" altLang="ko-KR" sz="900" dirty="0"/>
              <a:t>Vector</a:t>
            </a:r>
            <a:r>
              <a:rPr lang="ko-KR" altLang="en-US" sz="900" dirty="0"/>
              <a:t> 변환 수행</a:t>
            </a:r>
            <a:endParaRPr lang="en-US" altLang="ko-KR" sz="900" dirty="0"/>
          </a:p>
        </p:txBody>
      </p:sp>
      <p:sp>
        <p:nvSpPr>
          <p:cNvPr id="15" name="Google Shape;111;p14">
            <a:extLst>
              <a:ext uri="{FF2B5EF4-FFF2-40B4-BE49-F238E27FC236}">
                <a16:creationId xmlns:a16="http://schemas.microsoft.com/office/drawing/2014/main" id="{5A51A1DC-E0D7-B59C-B49D-C3141D9DF7E9}"/>
              </a:ext>
            </a:extLst>
          </p:cNvPr>
          <p:cNvSpPr txBox="1"/>
          <p:nvPr/>
        </p:nvSpPr>
        <p:spPr>
          <a:xfrm>
            <a:off x="5597871" y="6114836"/>
            <a:ext cx="4896545" cy="15696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6. MongoDB Vector Search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검색어 </a:t>
            </a:r>
            <a:r>
              <a:rPr lang="en-US" altLang="ko-KR" sz="1000" dirty="0"/>
              <a:t>Vector</a:t>
            </a:r>
            <a:r>
              <a:rPr lang="ko-KR" altLang="en-US" sz="1000" dirty="0"/>
              <a:t>와 저장된 모든 </a:t>
            </a:r>
            <a:r>
              <a:rPr lang="en-US" altLang="ko-KR" sz="1000" dirty="0"/>
              <a:t>Collection</a:t>
            </a:r>
            <a:r>
              <a:rPr lang="ko-KR" altLang="en-US" sz="1000" dirty="0"/>
              <a:t>의 </a:t>
            </a:r>
            <a:r>
              <a:rPr lang="en-US" altLang="ko-KR" sz="1000" dirty="0"/>
              <a:t>Vector</a:t>
            </a:r>
            <a:r>
              <a:rPr lang="ko-KR" altLang="en-US" sz="1000" dirty="0"/>
              <a:t>를 비교</a:t>
            </a:r>
            <a:r>
              <a:rPr lang="en-US" altLang="ko-KR" sz="1000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검색어</a:t>
            </a:r>
            <a:endParaRPr lang="en-US" altLang="ko-KR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휴대전화</a:t>
            </a:r>
            <a:r>
              <a:rPr lang="en-US" altLang="ko-KR" sz="1000" dirty="0"/>
              <a:t>" [0.24, -0.44, ...]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Collection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000" b="1" dirty="0"/>
              <a:t>"</a:t>
            </a:r>
            <a:r>
              <a:rPr lang="ko-KR" altLang="en-US" sz="1000" b="1" dirty="0"/>
              <a:t>스마트폰</a:t>
            </a:r>
            <a:r>
              <a:rPr lang="en-US" altLang="ko-KR" sz="1000" b="1" dirty="0"/>
              <a:t>" [0.23, -0.45, ...]  	</a:t>
            </a:r>
            <a:r>
              <a:rPr lang="ko-KR" altLang="en-US" sz="1000" b="1" dirty="0"/>
              <a:t>유사도 </a:t>
            </a:r>
            <a:r>
              <a:rPr lang="en-US" altLang="ko-KR" sz="1000" b="1" dirty="0"/>
              <a:t>0.89</a:t>
            </a:r>
            <a:endParaRPr lang="en-US" altLang="ko-KR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노트북</a:t>
            </a:r>
            <a:r>
              <a:rPr lang="en-US" altLang="ko-KR" sz="1000" dirty="0"/>
              <a:t>" [-0.87, 0.34, ...]    </a:t>
            </a:r>
            <a:r>
              <a:rPr lang="ko-KR" altLang="en-US" sz="1000" dirty="0"/>
              <a:t>유사도 </a:t>
            </a:r>
            <a:r>
              <a:rPr lang="en-US" altLang="ko-KR" sz="1000" dirty="0"/>
              <a:t>0.12        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ko-KR" altLang="en-US" sz="1000" dirty="0"/>
              <a:t>자동차</a:t>
            </a:r>
            <a:r>
              <a:rPr lang="en-US" altLang="ko-KR" sz="1000" dirty="0"/>
              <a:t>" [0.01, 0.92, ...]     </a:t>
            </a:r>
            <a:r>
              <a:rPr lang="ko-KR" altLang="en-US" sz="1000" dirty="0"/>
              <a:t>유사도 </a:t>
            </a:r>
            <a:r>
              <a:rPr lang="en-US" altLang="ko-KR" sz="1000" dirty="0"/>
              <a:t>0.05		 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결과</a:t>
            </a:r>
            <a:r>
              <a:rPr lang="en-US" altLang="ko-KR" sz="1000" dirty="0"/>
              <a:t>: "</a:t>
            </a:r>
            <a:r>
              <a:rPr lang="ko-KR" altLang="en-US" sz="1000" dirty="0"/>
              <a:t>스마트폰</a:t>
            </a:r>
            <a:r>
              <a:rPr lang="en-US" altLang="ko-KR" sz="1000" dirty="0"/>
              <a:t>" </a:t>
            </a:r>
            <a:r>
              <a:rPr lang="ko-KR" altLang="en-US" sz="1000" dirty="0"/>
              <a:t>광고 반환</a:t>
            </a:r>
            <a:r>
              <a:rPr lang="en-US" altLang="ko-KR" sz="1000" dirty="0"/>
              <a:t>!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3FE7FF9-F7E1-3E5E-0D8F-42F2F07928E0}"/>
              </a:ext>
            </a:extLst>
          </p:cNvPr>
          <p:cNvCxnSpPr>
            <a:cxnSpLocks/>
          </p:cNvCxnSpPr>
          <p:nvPr/>
        </p:nvCxnSpPr>
        <p:spPr>
          <a:xfrm>
            <a:off x="7781689" y="1871563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E003160-A342-5EF9-9452-AA9A22A4E2A2}"/>
              </a:ext>
            </a:extLst>
          </p:cNvPr>
          <p:cNvCxnSpPr>
            <a:cxnSpLocks/>
          </p:cNvCxnSpPr>
          <p:nvPr/>
        </p:nvCxnSpPr>
        <p:spPr>
          <a:xfrm>
            <a:off x="7781689" y="5759995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CA95A1B-1B05-7CBD-7CD3-8AB8EB0A4F6A}"/>
              </a:ext>
            </a:extLst>
          </p:cNvPr>
          <p:cNvCxnSpPr>
            <a:cxnSpLocks/>
          </p:cNvCxnSpPr>
          <p:nvPr/>
        </p:nvCxnSpPr>
        <p:spPr>
          <a:xfrm>
            <a:off x="9414296" y="5904011"/>
            <a:ext cx="0" cy="375429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316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FF8FB-4100-99C8-FA8B-4FE100743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CBF9FE2C-9C43-9372-8540-E23778FA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Vector Search 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데이터베이스의 텍스트를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Vector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변환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F028D3-0D28-D4DE-AADB-4A6BCE1DF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032" y="1223491"/>
            <a:ext cx="2778887" cy="642662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588F2F4-2416-EFE9-86BD-367EE2529411}"/>
              </a:ext>
            </a:extLst>
          </p:cNvPr>
          <p:cNvCxnSpPr>
            <a:cxnSpLocks/>
          </p:cNvCxnSpPr>
          <p:nvPr/>
        </p:nvCxnSpPr>
        <p:spPr>
          <a:xfrm>
            <a:off x="6029920" y="4175819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111;p14">
            <a:extLst>
              <a:ext uri="{FF2B5EF4-FFF2-40B4-BE49-F238E27FC236}">
                <a16:creationId xmlns:a16="http://schemas.microsoft.com/office/drawing/2014/main" id="{65A04D51-1168-06EF-FBC2-C25497999D22}"/>
              </a:ext>
            </a:extLst>
          </p:cNvPr>
          <p:cNvSpPr txBox="1"/>
          <p:nvPr/>
        </p:nvSpPr>
        <p:spPr>
          <a:xfrm>
            <a:off x="1090794" y="7007090"/>
            <a:ext cx="3691626" cy="4924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ad_name</a:t>
            </a:r>
            <a:r>
              <a:rPr lang="en-US" altLang="ko-KR" sz="1000" dirty="0"/>
              <a:t>, </a:t>
            </a:r>
            <a:r>
              <a:rPr lang="en-US" altLang="ko-KR" sz="1000" dirty="0" err="1"/>
              <a:t>creative.headline</a:t>
            </a:r>
            <a:r>
              <a:rPr lang="en-US" altLang="ko-KR" sz="1000" dirty="0"/>
              <a:t>, </a:t>
            </a:r>
            <a:r>
              <a:rPr lang="en-US" altLang="ko-KR" sz="1000" dirty="0" err="1"/>
              <a:t>creative.description</a:t>
            </a:r>
            <a:r>
              <a:rPr lang="ko-KR" altLang="en-US" sz="1000" dirty="0"/>
              <a:t>을 </a:t>
            </a:r>
            <a:r>
              <a:rPr lang="en-US" altLang="ko-KR" sz="1000" dirty="0"/>
              <a:t>Vector</a:t>
            </a:r>
            <a:r>
              <a:rPr lang="ko-KR" altLang="en-US" sz="1000" dirty="0"/>
              <a:t>화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이후 </a:t>
            </a:r>
            <a:r>
              <a:rPr lang="en-US" altLang="ko-KR" sz="1000" dirty="0"/>
              <a:t>MongoDB Collection</a:t>
            </a:r>
            <a:r>
              <a:rPr lang="ko-KR" altLang="en-US" sz="1000" dirty="0"/>
              <a:t>에 저장</a:t>
            </a:r>
            <a:endParaRPr lang="en-US" altLang="ko-KR" sz="1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43BF502-CFEE-5756-0302-515D8D04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03" y="1427473"/>
            <a:ext cx="5430008" cy="549669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65D3470-85E4-46DD-4532-0919AC35230A}"/>
              </a:ext>
            </a:extLst>
          </p:cNvPr>
          <p:cNvSpPr/>
          <p:nvPr/>
        </p:nvSpPr>
        <p:spPr>
          <a:xfrm>
            <a:off x="7326064" y="4175819"/>
            <a:ext cx="2160240" cy="33843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580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C9619-1833-B823-E51E-40308635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517923C1-4B3C-0DA8-173B-B295CBD08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Vector Search (Vector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값을 적용 후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Collection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형태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EE535B6-8EEF-118C-FF12-C6547171E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96" y="1223491"/>
            <a:ext cx="2677453" cy="61920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905DED6-4E7A-7855-832C-8C0D8FCB0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648" y="1223491"/>
            <a:ext cx="3534268" cy="64779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C33B2A4-8CAA-BE59-77C7-15748BDA0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056" y="1159372"/>
            <a:ext cx="3477110" cy="65255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27740A7-C9C4-7555-8A7D-7D488165BEC9}"/>
              </a:ext>
            </a:extLst>
          </p:cNvPr>
          <p:cNvSpPr/>
          <p:nvPr/>
        </p:nvSpPr>
        <p:spPr>
          <a:xfrm>
            <a:off x="747576" y="4079208"/>
            <a:ext cx="2021749" cy="32621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B75ADA-F40A-75D1-4499-5155091F7457}"/>
              </a:ext>
            </a:extLst>
          </p:cNvPr>
          <p:cNvSpPr/>
          <p:nvPr/>
        </p:nvSpPr>
        <p:spPr>
          <a:xfrm>
            <a:off x="3656239" y="3206173"/>
            <a:ext cx="2718435" cy="44551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6DE127-6682-E4F0-BC4F-F34B2D56C9F8}"/>
              </a:ext>
            </a:extLst>
          </p:cNvPr>
          <p:cNvSpPr/>
          <p:nvPr/>
        </p:nvSpPr>
        <p:spPr>
          <a:xfrm>
            <a:off x="7387862" y="3182224"/>
            <a:ext cx="2718435" cy="44551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109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9E6D3-B819-C36D-4E46-A768B0B9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B615270C-9659-3D37-2742-F2AC8DCCA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Vector Search 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검색어를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Vector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변환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1631E49-C236-DF0D-E8D9-8BD589AA02A8}"/>
              </a:ext>
            </a:extLst>
          </p:cNvPr>
          <p:cNvCxnSpPr>
            <a:cxnSpLocks/>
          </p:cNvCxnSpPr>
          <p:nvPr/>
        </p:nvCxnSpPr>
        <p:spPr>
          <a:xfrm>
            <a:off x="5741888" y="4175818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111;p14">
            <a:extLst>
              <a:ext uri="{FF2B5EF4-FFF2-40B4-BE49-F238E27FC236}">
                <a16:creationId xmlns:a16="http://schemas.microsoft.com/office/drawing/2014/main" id="{C16E3410-EB21-5B80-8DFB-238209BB842D}"/>
              </a:ext>
            </a:extLst>
          </p:cNvPr>
          <p:cNvSpPr txBox="1"/>
          <p:nvPr/>
        </p:nvSpPr>
        <p:spPr>
          <a:xfrm>
            <a:off x="1088414" y="6120035"/>
            <a:ext cx="3691626" cy="8001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검색어를 </a:t>
            </a:r>
            <a:r>
              <a:rPr lang="en-US" altLang="ko-KR" sz="1000" dirty="0"/>
              <a:t>Vector</a:t>
            </a:r>
            <a:r>
              <a:rPr lang="ko-KR" altLang="en-US" sz="1000" dirty="0"/>
              <a:t> 변환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휴대전화 </a:t>
            </a:r>
            <a:r>
              <a:rPr lang="en-US" altLang="ko-KR" sz="1000" dirty="0"/>
              <a:t>(</a:t>
            </a:r>
            <a:r>
              <a:rPr lang="ko-KR" altLang="en-US" sz="1000" dirty="0"/>
              <a:t>스마트폰 검색 유도</a:t>
            </a:r>
            <a:r>
              <a:rPr lang="en-US" altLang="ko-KR" sz="1000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TV (</a:t>
            </a:r>
            <a:r>
              <a:rPr lang="ko-KR" altLang="en-US" sz="1000" dirty="0"/>
              <a:t>가전제품 검색 유도</a:t>
            </a:r>
            <a:r>
              <a:rPr lang="en-US" altLang="ko-KR" sz="1000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유튜브 </a:t>
            </a:r>
            <a:r>
              <a:rPr lang="en-US" altLang="ko-KR" sz="1000" dirty="0"/>
              <a:t>(</a:t>
            </a:r>
            <a:r>
              <a:rPr lang="ko-KR" altLang="en-US" sz="1000" dirty="0"/>
              <a:t>동영상 검색 유도</a:t>
            </a:r>
            <a:r>
              <a:rPr lang="en-US" altLang="ko-KR" sz="1000" dirty="0"/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79E12D-9877-903B-A071-4A650A427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42" y="2570632"/>
            <a:ext cx="5430008" cy="321037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14C7A53-E3E6-4416-E7D5-169D28A19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48" y="1223491"/>
            <a:ext cx="1372840" cy="640869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A5CCF0-5727-1D7F-E4C9-7793A85A7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312" y="1223491"/>
            <a:ext cx="1310870" cy="640869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F3EDA71-9E26-D1AA-CB17-1BEEF545E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6820" y="1223491"/>
            <a:ext cx="1298204" cy="640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94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EF1D0-8D3D-4CC1-5952-BE95458E3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4E77BACA-07E4-9F1C-E082-6BDF9F1E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Vector Search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인덱스 생성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53D0387-A4FE-FD5A-334C-D2C14E072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15" y="1163642"/>
            <a:ext cx="4044120" cy="56856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484B886-7417-E46A-913F-A5A85C9EC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033" y="1151483"/>
            <a:ext cx="5041392" cy="369050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4C456C0-08BA-F49F-0A60-601620CB04B1}"/>
              </a:ext>
            </a:extLst>
          </p:cNvPr>
          <p:cNvCxnSpPr>
            <a:cxnSpLocks/>
          </p:cNvCxnSpPr>
          <p:nvPr/>
        </p:nvCxnSpPr>
        <p:spPr>
          <a:xfrm>
            <a:off x="4589760" y="3815779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2E79893C-11AA-F6A6-8DCA-2B543198F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466" y="5661223"/>
            <a:ext cx="5688632" cy="190596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EB1CA0B-E74F-1EB8-FE93-7CE513805F38}"/>
              </a:ext>
            </a:extLst>
          </p:cNvPr>
          <p:cNvCxnSpPr>
            <a:cxnSpLocks/>
          </p:cNvCxnSpPr>
          <p:nvPr/>
        </p:nvCxnSpPr>
        <p:spPr>
          <a:xfrm>
            <a:off x="7974136" y="5039915"/>
            <a:ext cx="0" cy="504056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AF85EFBE-CCD7-D923-4DF2-C3D8E88C3055}"/>
              </a:ext>
            </a:extLst>
          </p:cNvPr>
          <p:cNvSpPr txBox="1"/>
          <p:nvPr/>
        </p:nvSpPr>
        <p:spPr>
          <a:xfrm>
            <a:off x="7398073" y="2435496"/>
            <a:ext cx="2880320" cy="14157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"type": "vector“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필드 타입을 벡터 검색용으로 지정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"path": "embedding“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벡터 데이터가 저장된 문서 </a:t>
            </a:r>
            <a:r>
              <a:rPr lang="ko-KR" altLang="en-US" sz="1000" dirty="0" err="1"/>
              <a:t>필드명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</a:t>
            </a:r>
            <a:r>
              <a:rPr lang="en-US" altLang="ko-KR" sz="1000" dirty="0" err="1"/>
              <a:t>numDimensions</a:t>
            </a:r>
            <a:r>
              <a:rPr lang="en-US" altLang="ko-KR" sz="1000" dirty="0"/>
              <a:t>": 1536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벡터의 차원 수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"similarity": "cosine“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벡터 간 유사도 계산 방식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63869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128FD-CC9C-8607-4D78-5D8CB0EE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B0DFEB8D-BF52-F40A-1B3D-30225B62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Vector Search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인덱스 생성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29917E-D481-3CBE-9FD7-72993AB3D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96" y="1354620"/>
            <a:ext cx="9924722" cy="33252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321E3674-B652-59EA-A13A-4AEA95544277}"/>
              </a:ext>
            </a:extLst>
          </p:cNvPr>
          <p:cNvSpPr txBox="1"/>
          <p:nvPr/>
        </p:nvSpPr>
        <p:spPr>
          <a:xfrm>
            <a:off x="1349399" y="4751883"/>
            <a:ext cx="8208913" cy="26468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Vector </a:t>
            </a:r>
            <a:r>
              <a:rPr lang="ko-KR" altLang="en-US" sz="1000" dirty="0"/>
              <a:t>인덱스</a:t>
            </a:r>
            <a:r>
              <a:rPr lang="en-US" altLang="ko-KR" sz="1000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ANN (</a:t>
            </a:r>
            <a:r>
              <a:rPr lang="ko-KR" altLang="en-US" sz="1000" dirty="0"/>
              <a:t>근사 근접 이웃</a:t>
            </a:r>
            <a:r>
              <a:rPr lang="en-US" altLang="ko-KR" sz="1000" dirty="0"/>
              <a:t>) </a:t>
            </a:r>
            <a:r>
              <a:rPr lang="ko-KR" altLang="en-US" sz="1000" dirty="0"/>
              <a:t>검색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​</a:t>
            </a:r>
            <a:r>
              <a:rPr lang="en-US" altLang="ko-KR" sz="1000" dirty="0"/>
              <a:t>Vector index </a:t>
            </a:r>
            <a:r>
              <a:rPr lang="ko-KR" altLang="en-US" sz="1000" dirty="0"/>
              <a:t>생성</a:t>
            </a:r>
            <a:r>
              <a:rPr lang="en-US" altLang="ko-KR" sz="1000" dirty="0"/>
              <a:t> 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MongoDB</a:t>
            </a:r>
            <a:r>
              <a:rPr lang="ko-KR" altLang="en-US" sz="1000" dirty="0"/>
              <a:t>는 벡터 값들을 검색에 최적화된 빠르고 효율적인 그래프 구조로 미리 정렬</a:t>
            </a:r>
            <a:br>
              <a:rPr lang="en-US" altLang="ko-KR" sz="1000" dirty="0"/>
            </a:b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순서 </a:t>
            </a:r>
            <a:r>
              <a:rPr lang="en-US" altLang="ko-KR" sz="1000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사용자가 검색을 요청 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MongoDB</a:t>
            </a:r>
            <a:r>
              <a:rPr lang="ko-KR" altLang="en-US" sz="1000" dirty="0"/>
              <a:t>는 </a:t>
            </a:r>
            <a:r>
              <a:rPr lang="en-US" altLang="ko-KR" sz="1000" dirty="0"/>
              <a:t>100</a:t>
            </a:r>
            <a:r>
              <a:rPr lang="ko-KR" altLang="en-US" sz="1000" dirty="0"/>
              <a:t>만 개의 문서를 모두 찾는 대신 </a:t>
            </a:r>
            <a:r>
              <a:rPr lang="en-US" altLang="ko-KR" sz="1000" dirty="0"/>
              <a:t>Vector</a:t>
            </a:r>
            <a:r>
              <a:rPr lang="ko-KR" altLang="en-US" sz="1000" dirty="0"/>
              <a:t> </a:t>
            </a:r>
            <a:r>
              <a:rPr lang="en-US" altLang="ko-KR" sz="1000" dirty="0"/>
              <a:t>index </a:t>
            </a:r>
            <a:r>
              <a:rPr lang="ko-KR" altLang="en-US" sz="1000" dirty="0"/>
              <a:t>그래프를 참조</a:t>
            </a:r>
            <a:endParaRPr lang="en-US" altLang="ko-KR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Vector Index</a:t>
            </a:r>
            <a:r>
              <a:rPr lang="ko-KR" altLang="en-US" sz="1000" dirty="0"/>
              <a:t>는 </a:t>
            </a:r>
            <a:r>
              <a:rPr lang="en-US" altLang="ko-KR" sz="1000" dirty="0"/>
              <a:t>"</a:t>
            </a:r>
            <a:r>
              <a:rPr lang="ko-KR" altLang="en-US" sz="1000" dirty="0"/>
              <a:t>이 검색어 벡터와 가장 가까울 확률이 높은 벡터들은 저쪽 그룹에 </a:t>
            </a:r>
            <a:r>
              <a:rPr lang="ko-KR" altLang="en-US" sz="1000" dirty="0" err="1"/>
              <a:t>모여있다</a:t>
            </a:r>
            <a:r>
              <a:rPr lang="en-US" altLang="ko-KR" sz="1000" dirty="0"/>
              <a:t>” </a:t>
            </a:r>
            <a:r>
              <a:rPr lang="ko-KR" altLang="en-US" sz="1000" dirty="0"/>
              <a:t>전달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​</a:t>
            </a:r>
            <a:r>
              <a:rPr lang="ko-KR" altLang="en-US" sz="1000" dirty="0"/>
              <a:t>결과</a:t>
            </a:r>
            <a:r>
              <a:rPr lang="en-US" altLang="ko-KR" sz="1000" dirty="0"/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예를 들어 </a:t>
            </a:r>
            <a:r>
              <a:rPr lang="en-US" altLang="ko-KR" sz="1000" dirty="0"/>
              <a:t>100</a:t>
            </a:r>
            <a:r>
              <a:rPr lang="ko-KR" altLang="en-US" sz="1000" dirty="0"/>
              <a:t>만 번을 비교하는 대신</a:t>
            </a:r>
            <a:r>
              <a:rPr lang="en-US" altLang="ko-KR" sz="1000" dirty="0"/>
              <a:t>, </a:t>
            </a:r>
            <a:r>
              <a:rPr lang="ko-KR" altLang="en-US" sz="1000" dirty="0"/>
              <a:t>단 </a:t>
            </a:r>
            <a:r>
              <a:rPr lang="ko-KR" altLang="en-US" sz="1000" dirty="0" err="1"/>
              <a:t>몇십</a:t>
            </a:r>
            <a:r>
              <a:rPr lang="en-US" altLang="ko-KR" sz="1000" dirty="0"/>
              <a:t>~</a:t>
            </a:r>
            <a:r>
              <a:rPr lang="ko-KR" altLang="en-US" sz="1000" dirty="0" err="1"/>
              <a:t>몇백</a:t>
            </a:r>
            <a:r>
              <a:rPr lang="ko-KR" altLang="en-US" sz="1000" dirty="0"/>
              <a:t> 개의 후보 벡터들만 비교하고도 거의 </a:t>
            </a:r>
            <a:r>
              <a:rPr lang="en-US" altLang="ko-KR" sz="1000" dirty="0"/>
              <a:t>99.9% </a:t>
            </a:r>
            <a:r>
              <a:rPr lang="ko-KR" altLang="en-US" sz="1000" dirty="0"/>
              <a:t>정확한 최근접 이웃 검색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​</a:t>
            </a:r>
            <a:r>
              <a:rPr lang="ko-KR" altLang="en-US" sz="1000" dirty="0"/>
              <a:t>장점</a:t>
            </a:r>
            <a:r>
              <a:rPr lang="en-US" altLang="ko-KR" sz="1000" dirty="0"/>
              <a:t>: </a:t>
            </a:r>
            <a:r>
              <a:rPr lang="ko-KR" altLang="en-US" sz="1000" dirty="0"/>
              <a:t>데이터가 </a:t>
            </a:r>
            <a:r>
              <a:rPr lang="en-US" altLang="ko-KR" sz="1000" dirty="0"/>
              <a:t>1</a:t>
            </a:r>
            <a:r>
              <a:rPr lang="ko-KR" altLang="en-US" sz="1000" dirty="0"/>
              <a:t>억 건이 되어도 검색 속도가 거의 동일하게 </a:t>
            </a:r>
            <a:r>
              <a:rPr lang="ko-KR" altLang="en-US" sz="1000" dirty="0" err="1"/>
              <a:t>밀리초</a:t>
            </a:r>
            <a:r>
              <a:rPr lang="en-US" altLang="ko-KR" sz="1000" dirty="0"/>
              <a:t>(</a:t>
            </a:r>
            <a:r>
              <a:rPr lang="en-US" altLang="ko-KR" sz="1000" dirty="0" err="1"/>
              <a:t>ms</a:t>
            </a:r>
            <a:r>
              <a:rPr lang="en-US" altLang="ko-KR" sz="1000" dirty="0"/>
              <a:t>) </a:t>
            </a:r>
            <a:r>
              <a:rPr lang="ko-KR" altLang="en-US" sz="1000" dirty="0"/>
              <a:t>단위로 유지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857518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00F9E-82DF-E82C-E35C-548455397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F32CA3B5-7BCA-3D15-5FA2-6B455B9B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Vector Search 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(Vector)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조회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D7A0983-E972-FDCD-21A8-AD16416B9B7D}"/>
              </a:ext>
            </a:extLst>
          </p:cNvPr>
          <p:cNvCxnSpPr>
            <a:cxnSpLocks/>
          </p:cNvCxnSpPr>
          <p:nvPr/>
        </p:nvCxnSpPr>
        <p:spPr>
          <a:xfrm>
            <a:off x="6029920" y="4175819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2AD24947-09DD-0C10-47F7-C7BED0FF1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1" y="1881100"/>
            <a:ext cx="5765024" cy="45894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C1ACDB6-0CC3-24EE-3D7C-44402602E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079" y="1511522"/>
            <a:ext cx="4040677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81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FDAF-2E15-F850-C29B-E741E2DC0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3ECFA7DC-C1EE-5393-C51B-123C7E478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Vector Search 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(Vector)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조회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F823EA4-27E9-09AB-C6EF-599839F05EFE}"/>
              </a:ext>
            </a:extLst>
          </p:cNvPr>
          <p:cNvCxnSpPr>
            <a:cxnSpLocks/>
          </p:cNvCxnSpPr>
          <p:nvPr/>
        </p:nvCxnSpPr>
        <p:spPr>
          <a:xfrm>
            <a:off x="6029920" y="4175819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6364E95-A2B9-E7B9-9885-1C5C6653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1" y="1881100"/>
            <a:ext cx="5765024" cy="45894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8FE2C1A-4EDA-E222-596D-67701E1FC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531" y="1712840"/>
            <a:ext cx="3887257" cy="492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68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C6103-06B3-98CC-D82C-4A0A60836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3BAFCEBE-D775-117F-8FCD-97168E18A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83" y="768485"/>
            <a:ext cx="7710053" cy="248869"/>
          </a:xfrm>
        </p:spPr>
        <p:txBody>
          <a:bodyPr/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 Vector Search 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검색어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(Vector)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MongoDB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조회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4F26D92-6FE7-A1EC-B66C-ABB11D2AA707}"/>
              </a:ext>
            </a:extLst>
          </p:cNvPr>
          <p:cNvCxnSpPr>
            <a:cxnSpLocks/>
          </p:cNvCxnSpPr>
          <p:nvPr/>
        </p:nvCxnSpPr>
        <p:spPr>
          <a:xfrm>
            <a:off x="6029920" y="4175819"/>
            <a:ext cx="599412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2DB6743D-A204-3641-4F77-75E5CCCFD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1" y="1881100"/>
            <a:ext cx="5765024" cy="458943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5A64316-9C8E-F0FF-C43E-431EAB45D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042" y="1403511"/>
            <a:ext cx="3903295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337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0" y="3290218"/>
            <a:ext cx="10907713" cy="1195138"/>
          </a:xfrm>
        </p:spPr>
        <p:txBody>
          <a:bodyPr/>
          <a:lstStyle/>
          <a:p>
            <a:pPr indent="0" algn="ctr" defTabSz="457200" latinLnBrk="0">
              <a:lnSpc>
                <a:spcPct val="120000"/>
              </a:lnSpc>
              <a:spcAft>
                <a:spcPts val="0"/>
              </a:spcAft>
              <a:buSzTx/>
              <a:buFontTx/>
              <a:buNone/>
              <a:defRPr/>
            </a:pPr>
            <a:r>
              <a:rPr kumimoji="1" lang="ko-KR" altLang="en-US" sz="6000" b="0" i="0" u="none" strike="noStrike" kern="1200" cap="none" spc="0" normalizeH="0" baseline="0" noProof="0" dirty="0">
                <a:ln w="1270"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endParaRPr lang="ko-KR" altLang="en-US" sz="4000" dirty="0">
              <a:latin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15714"/>
      </p:ext>
    </p:extLst>
  </p:cSld>
  <p:clrMapOvr>
    <a:masterClrMapping/>
  </p:clrMapOvr>
</p:sld>
</file>

<file path=ppt/theme/theme1.xml><?xml version="1.0" encoding="utf-8"?>
<a:theme xmlns:a="http://schemas.openxmlformats.org/drawingml/2006/main" name="본문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제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제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3E92AA1CF09E24394123D714C0896DE" ma:contentTypeVersion="9" ma:contentTypeDescription="새 문서를 만듭니다." ma:contentTypeScope="" ma:versionID="096a8d0a33dd0bd1c2bedee0f77b63c1">
  <xsd:schema xmlns:xsd="http://www.w3.org/2001/XMLSchema" xmlns:xs="http://www.w3.org/2001/XMLSchema" xmlns:p="http://schemas.microsoft.com/office/2006/metadata/properties" xmlns:ns2="9815f4bc-7302-4653-8c5d-8f418e6b87d2" xmlns:ns3="4c263c58-7cda-4a49-b09a-e44bbedbd177" targetNamespace="http://schemas.microsoft.com/office/2006/metadata/properties" ma:root="true" ma:fieldsID="2a1dd23055aa773c6ee276e3ee65ee49" ns2:_="" ns3:_="">
    <xsd:import namespace="9815f4bc-7302-4653-8c5d-8f418e6b87d2"/>
    <xsd:import namespace="4c263c58-7cda-4a49-b09a-e44bbedbd1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15f4bc-7302-4653-8c5d-8f418e6b87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이미지 태그" ma:readOnly="false" ma:fieldId="{5cf76f15-5ced-4ddc-b409-7134ff3c332f}" ma:taxonomyMulti="true" ma:sspId="753c4177-3535-4d6a-b43b-cefe080621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263c58-7cda-4a49-b09a-e44bbedbd17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06fc316-580e-4c8a-a0be-3de8b2228311}" ma:internalName="TaxCatchAll" ma:showField="CatchAllData" ma:web="4c263c58-7cda-4a49-b09a-e44bbedbd1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815f4bc-7302-4653-8c5d-8f418e6b87d2">
      <Terms xmlns="http://schemas.microsoft.com/office/infopath/2007/PartnerControls"/>
    </lcf76f155ced4ddcb4097134ff3c332f>
    <TaxCatchAll xmlns="4c263c58-7cda-4a49-b09a-e44bbedbd177" xsi:nil="true"/>
  </documentManagement>
</p:properties>
</file>

<file path=customXml/itemProps1.xml><?xml version="1.0" encoding="utf-8"?>
<ds:datastoreItem xmlns:ds="http://schemas.openxmlformats.org/officeDocument/2006/customXml" ds:itemID="{5E868925-9E93-48DA-8F9C-A017924AA3B2}">
  <ds:schemaRefs>
    <ds:schemaRef ds:uri="4c263c58-7cda-4a49-b09a-e44bbedbd177"/>
    <ds:schemaRef ds:uri="9815f4bc-7302-4653-8c5d-8f418e6b87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6805D0E-E839-4B5E-9DEF-B3142EF2D3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AD66F2-5053-4BC0-90FC-D17D5DC12CA9}">
  <ds:schemaRefs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dcmitype/"/>
    <ds:schemaRef ds:uri="4c263c58-7cda-4a49-b09a-e44bbedbd177"/>
    <ds:schemaRef ds:uri="http://purl.org/dc/elements/1.1/"/>
    <ds:schemaRef ds:uri="http://www.w3.org/XML/1998/namespace"/>
    <ds:schemaRef ds:uri="9815f4bc-7302-4653-8c5d-8f418e6b87d2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27489</TotalTime>
  <Words>1410</Words>
  <Application>Microsoft Office PowerPoint</Application>
  <PresentationFormat>사용자 지정</PresentationFormat>
  <Paragraphs>247</Paragraphs>
  <Slides>26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26</vt:i4>
      </vt:variant>
    </vt:vector>
  </HeadingPairs>
  <TitlesOfParts>
    <vt:vector size="40" baseType="lpstr">
      <vt:lpstr>KoPub돋움체 Light</vt:lpstr>
      <vt:lpstr>Samsung Sharp Sans Bold</vt:lpstr>
      <vt:lpstr>Samsung Sharp Sans Regular</vt:lpstr>
      <vt:lpstr>SamsungOne 800</vt:lpstr>
      <vt:lpstr>SamsungOneKorean 700</vt:lpstr>
      <vt:lpstr>공체 Medium</vt:lpstr>
      <vt:lpstr>나눔고딕</vt:lpstr>
      <vt:lpstr>나눔스퀘어 Bold</vt:lpstr>
      <vt:lpstr>나눔스퀘어 ExtraBold</vt:lpstr>
      <vt:lpstr>맑은 고딕</vt:lpstr>
      <vt:lpstr>Arial</vt:lpstr>
      <vt:lpstr>본문</vt:lpstr>
      <vt:lpstr>제목</vt:lpstr>
      <vt:lpstr>1_제목</vt:lpstr>
      <vt:lpstr>MongoDB Atlas Search &amp; Vector Search</vt:lpstr>
      <vt:lpstr>PowerPoint 프레젠테이션</vt:lpstr>
      <vt:lpstr>PowerPoint 프레젠테이션</vt:lpstr>
      <vt:lpstr>1. MongoDB Atlas Search</vt:lpstr>
      <vt:lpstr>Collection 특성 및 관계</vt:lpstr>
      <vt:lpstr>MongoDB Atlas Search &amp; Vector Search 개요</vt:lpstr>
      <vt:lpstr>MongoDB Atlas Search (Database &amp; Collection 선택) </vt:lpstr>
      <vt:lpstr>MongoDB Atlas Search (검색할 필드 설정) </vt:lpstr>
      <vt:lpstr>MongoDB Atlas Search (검색할 필드 설정) </vt:lpstr>
      <vt:lpstr>MongoDB Atlas Search (검색 - "스마트폰" 검색) </vt:lpstr>
      <vt:lpstr>MongoDB Atlas Search (검색 - "할인" 또는 "특가" 검색 (OR 조건)) </vt:lpstr>
      <vt:lpstr>MongoDB Atlas Search (검색 - 퍼지 검색 (오타 허용)) </vt:lpstr>
      <vt:lpstr>MongoDB Atlas Search (검색 - 자동완성 (Autocomplete)) </vt:lpstr>
      <vt:lpstr>MongoDB Atlas Search (검색 - 자동완성 (Autocomplete)) </vt:lpstr>
      <vt:lpstr>2. MongoDB Vector Search</vt:lpstr>
      <vt:lpstr>PowerPoint 프레젠테이션</vt:lpstr>
      <vt:lpstr>PowerPoint 프레젠테이션</vt:lpstr>
      <vt:lpstr>MongoDB Vector Search (데이터베이스의 텍스트를 Vector 변환) </vt:lpstr>
      <vt:lpstr>MongoDB Vector Search (Vector 값을 적용 후 Collection 형태) </vt:lpstr>
      <vt:lpstr>MongoDB Vector Search (검색어를 Vector 변환) </vt:lpstr>
      <vt:lpstr>Vector Search 인덱스 생성</vt:lpstr>
      <vt:lpstr>Vector Search 인덱스 생성</vt:lpstr>
      <vt:lpstr>MongoDB Vector Search (검색어(Vector)를 MongoDB에서 조회) </vt:lpstr>
      <vt:lpstr>MongoDB Vector Search (검색어(Vector)를 MongoDB에서 조회) </vt:lpstr>
      <vt:lpstr>MongoDB Vector Search (검색어(Vector)를 MongoDB에서 조회) 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LYN</dc:creator>
  <cp:lastModifiedBy>KangHyunwook</cp:lastModifiedBy>
  <cp:revision>893</cp:revision>
  <cp:lastPrinted>2024-06-04T13:23:20Z</cp:lastPrinted>
  <dcterms:created xsi:type="dcterms:W3CDTF">2023-04-20T03:11:48Z</dcterms:created>
  <dcterms:modified xsi:type="dcterms:W3CDTF">2025-11-03T00:47:58Z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0x010100D3E92AA1CF09E24394123D714C0896DE</vt:lpwstr>
  </property>
  <property fmtid="{D5CDD505-2E9C-101B-9397-08002B2CF9AE}" pid="3" name="MediaServiceImageTags">
    <vt:lpwstr/>
  </property>
</Properties>
</file>